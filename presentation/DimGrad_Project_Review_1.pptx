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65c9bdd-b503-1bc8-8769-9303d93118e3}">
          <p14:sldIdLst>
            <p14:sldId id="256"/>
          </p14:sldIdLst>
        </p14:section>
        <p14:section name="Problem and objectives" id="{9854917b-1371-032c-b204-d5da3e0a2336}">
          <p14:sldIdLst>
            <p14:sldId id="257"/>
            <p14:sldId id="258"/>
          </p14:sldIdLst>
        </p14:section>
        <p14:section name="Literature survey" id="{da47d332-d79a-11bf-767c-c374d02bd560}">
          <p14:sldIdLst>
            <p14:sldId id="259"/>
          </p14:sldIdLst>
        </p14:section>
        <p14:section name="Novelty" id="{0d37872b-bf26-cca8-4a72-ea3e3650a72c}">
          <p14:sldIdLst>
            <p14:sldId id="260"/>
          </p14:sldIdLst>
        </p14:section>
        <p14:section name="Implementation" id="{567c926b-fa96-068d-fe96-cd26556ce934}">
          <p14:sldIdLst>
            <p14:sldId id="261"/>
            <p14:sldId id="262"/>
            <p14:sldId id="263"/>
            <p14:sldId id="264"/>
          </p14:sldIdLst>
        </p14:section>
        <p14:section name="Wrap-up" id="{5c466a82-bd10-8f51-7010-521553ea8a27}">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DimGrad checks units at compile time and carries them through differentiation. The three chips are the whole idea: the unit of a derivative is the unit of the function divided by the unit of the variable, so the derivative of an energy with respect to a speed is a momentum. The compiler works this out by itself and emits C for both the function and its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most languages a value in metres and a value in feet are both just floating-point numbers, so adding them compiles. The Mars Climate Orbiter was lost in 1999 to exactly this kind of mistake. Derivatives make it sharper: a gradient-descent step x - eta*f'(x) is only meaningful if eta has the unit of x squared over the unit of f, and a Newton step must have the unit of x. Autodiff tools compute those derivatives without any notion of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The language is deliberately small: scalar reals, functions, if/else and for loops with fixed bounds. The checker computes the unit of every expression. Differentiation is forward mode over three-address code, and each derivative gets the unit of the function over the unit of the variable. The compiler also checks numerical-method updates and can solve the unit of a parameter declared with a question mark. It emits C, and we evaluate it with injected unit bugs, finite differences and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checking is well studied: Kennedy's dimension types give principal-type inference and ship in F#, Osprey checks C programs, and there is a line of work for Fortran. Autodiff is equally mature: Tapenade, Clad and Tangent transform source, Enzyme works on LLVM IR. Where the two meet, we found only libraries, where the derivative's unit is declared or passed in by hand, plus a hand analysis of gradient methods and a 2026 preprint that states the quotient rule but reports no autodiff implementation. Note for us: cite on this slide only the sources we have actually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claim the quotient rule itself; it appears in a 2026 preprint and in a hand analysis of gradient methods. What we claim is a design, an implementation and an evaluation. Derivative units are inferred, not declared. A learning rate or step size written with a question mark is solved by Gaussian elimination over rational exponents. A verifier re-derives the unit of every generated tangent instruction, so the check runs on the derivative code itself. Fractional exponents are exact. Caveats to say aloud: the gap claim rests on a limited search, and the fractional-exponent point depends on a companion preprint we have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sample program from the paper. The last line asks for the gradient with respect to v. Running 'dimgrad check' prints the signature and the unit of the derivative: kilogram metres per second, a momentum. Nobody declared that unit; the compiler divided joules by metres per second. After differentiation, a verifier pass recomputes the unit of every instruction, tangent instructions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classic compiler phases. The front end is a hand-written scanner, a recursive-descent parser, a symbol table with nested scopes and the unit checker, which also solves question-mark units. The back end lowers the checked tree to three-address code where every instruction carries its unit, adds a tangent instruction beside each instruction, optimises, and emits C. We emit C so that GCC handles machine-specific code generation. On the sample, the gradient goes from 12 instructions to 4 after constant folding, algebraic identities, common-subexpression elimination and dead-code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the checker does. On the left, a reading in feet is added to a correction in metres; the compiler rejects it and names the expression and both units. On the right, the learning rate is declared with a question mark. Each unit rule becomes a linear equation over exponents, and the solver eliminates the unknown: eta must be seconds squared per kilogram, which is metres squared per joule, the unit of x squared over the unit of f. The same mechanism gives the Euler step size the unit of time, and rejects a Newton step that divides by the derivative with respect to the wrong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every one of the 33 generated gradients agrees with central finite differences at 432 input points; the largest relative error is 2.55e-08 against a tolerance of 1e-06 fixed in advance. Detection: we injected 185 unit-changing mutations in five categories and the checker rejected 182; no correct program was rejected. The three misses are all in the gradient-descent benchmark, where a question-mark parameter simply solved to a different unit; that is a real weakness of placeholders. Numerical methods: 15 of 15 cases behave as derived by hand. Cost: the optimiser removes 48 percent of instructions, and a gradient costs about 1.22 times the function, where a finite difference costs 2 times. Timings vary by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forward mode and not reverse? These functions have few inputs and forward mode is one simple pass per input over three-address code; reverse mode is future work. Why emit C? It avoids a machine-specific back end. What can it not catch? A program can be dimensionally consistent and still physically wrong, and angles are unitless. How is this different from F# units of measure or Osprey? Those check units but do not differentiate. How do you know the gradients are right? Finite differences on every benchmark, closed forms where they exist, and 300 random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three commands from the project folder. The first prints the report with the derivative unit. The second exits with an error on purpose: cannot add ft and m. The third prints the three-address code and the instruction counts, 12 before and 4 after for the sample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5120640" cy="9144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103120"/>
            <a:ext cx="4846320" cy="118872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rtlCol="0"/>
          <a:lstStyle>
            <a:lvl1pPr algn="l" indent="0" marL="0">
              <a:buNone/>
              <a:defRPr lang="en-US" sz="1600" i="1" dirty="0">
                <a:solidFill>
                  <a:schemeClr val="accent4"/>
                </a:solidFill>
              </a:defRPr>
            </a:lvl1pPr>
          </a:lstStyle>
          <a:p>
            <a:pPr algn="l" indent="0" marL="0">
              <a:buNone/>
            </a:pPr>
            <a:endParaRPr lang="en-US" sz="1600" dirty="0"/>
          </a:p>
        </p:txBody>
      </p:sp>
      <p:sp>
        <p:nvSpPr>
          <p:cNvPr id="4"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DimGrad  ·  Project Review 1</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7315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457200" y="1143000"/>
            <a:ext cx="8229600" cy="411480"/>
          </a:xfrm>
          <a:prstGeom prst="rect">
            <a:avLst/>
          </a:prstGeom>
          <a:noFill/>
          <a:ln/>
        </p:spPr>
        <p:txBody>
          <a:bodyPr wrap="square" rtlCol="0"/>
          <a:lstStyle>
            <a:lvl1pPr algn="l" indent="0" marL="0">
              <a:buNone/>
              <a:defRPr lang="en-US" sz="1600" i="1" dirty="0">
                <a:solidFill>
                  <a:schemeClr val="accent5"/>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5120640" cy="914400"/>
          </a:xfrm>
          <a:prstGeom prst="rect">
            <a:avLst/>
          </a:prstGeom>
          <a:noFill/>
          <a:ln/>
        </p:spPr>
        <p:txBody>
          <a:bodyPr wrap="square" lIns="0" tIns="0" rIns="0" bIns="0" rtlCol="0" anchor="ctr"/>
          <a:lstStyle/>
          <a:p>
            <a:pPr algn="l" indent="0" marL="0">
              <a:buNone/>
            </a:pPr>
            <a:r>
              <a:rPr lang="en-US" sz="6000" b="1" dirty="0">
                <a:solidFill>
                  <a:schemeClr val="bg1"/>
                </a:solidFill>
              </a:rPr>
              <a:t>DimGrad</a:t>
            </a:r>
            <a:endParaRPr lang="en-US" sz="6000" dirty="0"/>
          </a:p>
        </p:txBody>
      </p:sp>
      <p:sp>
        <p:nvSpPr>
          <p:cNvPr id="3" name="Text 0"/>
          <p:cNvSpPr/>
          <p:nvPr>
            <p:ph idx="101" type="body" hasCustomPrompt="1"/>
          </p:nvPr>
        </p:nvSpPr>
        <p:spPr>
          <a:xfrm>
            <a:off x="548640" y="2103120"/>
            <a:ext cx="4846320" cy="1188720"/>
          </a:xfrm>
          <a:prstGeom prst="rect">
            <a:avLst/>
          </a:prstGeom>
          <a:noFill/>
          <a:ln/>
        </p:spPr>
        <p:txBody>
          <a:bodyPr wrap="square" lIns="0" tIns="0" rIns="0" bIns="0" rtlCol="0" anchor="t"/>
          <a:lstStyle/>
          <a:p>
            <a:pPr algn="l" indent="0" marL="0">
              <a:buNone/>
            </a:pPr>
            <a:r>
              <a:rPr lang="en-US" sz="2000" dirty="0">
                <a:solidFill>
                  <a:schemeClr val="accent5"/>
                </a:solidFill>
              </a:rPr>
              <a:t>A source-to-source compiler that infers and checks the units of derivatives and emits C</a:t>
            </a:r>
            <a:endParaRPr lang="en-US" sz="2000" dirty="0"/>
          </a:p>
        </p:txBody>
      </p:sp>
      <p:sp>
        <p:nvSpPr>
          <p:cNvPr id="4" name="Authors"/>
          <p:cNvSpPr txBox="1"/>
          <p:nvPr/>
        </p:nvSpPr>
        <p:spPr>
          <a:xfrm>
            <a:off x="548640" y="3520440"/>
            <a:ext cx="4846320" cy="548640"/>
          </a:xfrm>
          <a:prstGeom prst="rect">
            <a:avLst/>
          </a:prstGeom>
          <a:noFill/>
          <a:ln/>
        </p:spPr>
        <p:txBody>
          <a:bodyPr wrap="square" lIns="0" tIns="0" rIns="0" bIns="0" rtlCol="0" anchor="t"/>
          <a:lstStyle/>
          <a:p>
            <a:pPr indent="0" marL="0">
              <a:buNone/>
            </a:pPr>
            <a:r>
              <a:rPr lang="en-US" sz="1400" dirty="0">
                <a:solidFill>
                  <a:schemeClr val="bg1"/>
                </a:solidFill>
              </a:rPr>
              <a:t>Samartha Kashyap  ·  24BCE2702</a:t>
            </a:r>
            <a:endParaRPr lang="en-US" sz="1400" dirty="0"/>
          </a:p>
          <a:p>
            <a:pPr indent="0" marL="0">
              <a:buNone/>
            </a:pPr>
            <a:r>
              <a:rPr lang="en-US" sz="1400" dirty="0">
                <a:solidFill>
                  <a:schemeClr val="bg1"/>
                </a:solidFill>
              </a:rPr>
              <a:t>Kaavya Dehkane  ·  24BCT0077</a:t>
            </a:r>
            <a:endParaRPr lang="en-US" sz="1400" dirty="0"/>
          </a:p>
        </p:txBody>
      </p:sp>
      <p:sp>
        <p:nvSpPr>
          <p:cNvPr id="5" name="Course"/>
          <p:cNvSpPr txBox="1"/>
          <p:nvPr/>
        </p:nvSpPr>
        <p:spPr>
          <a:xfrm>
            <a:off x="548640" y="4297680"/>
            <a:ext cx="4846320" cy="274320"/>
          </a:xfrm>
          <a:prstGeom prst="rect">
            <a:avLst/>
          </a:prstGeom>
          <a:noFill/>
          <a:ln/>
        </p:spPr>
        <p:txBody>
          <a:bodyPr wrap="square" lIns="0" tIns="0" rIns="0" bIns="0" rtlCol="0" anchor="t"/>
          <a:lstStyle/>
          <a:p>
            <a:pPr indent="0" marL="0">
              <a:buNone/>
            </a:pPr>
            <a:r>
              <a:rPr lang="en-US" sz="1200" dirty="0">
                <a:solidFill>
                  <a:schemeClr val="accent5"/>
                </a:solidFill>
              </a:rPr>
              <a:t>Compiler Design  ·  Project Review 1</a:t>
            </a:r>
            <a:endParaRPr lang="en-US" sz="1200" dirty="0"/>
          </a:p>
        </p:txBody>
      </p:sp>
      <p:sp>
        <p:nvSpPr>
          <p:cNvPr id="6" name="Unit of the function"/>
          <p:cNvSpPr txBox="1"/>
          <p:nvPr/>
        </p:nvSpPr>
        <p:spPr>
          <a:xfrm>
            <a:off x="6172200" y="914400"/>
            <a:ext cx="2377440" cy="566928"/>
          </a:xfrm>
          <a:prstGeom prst="roundRect">
            <a:avLst>
              <a:gd name="adj" fmla="val 50000"/>
            </a:avLst>
          </a:prstGeom>
          <a:solidFill>
            <a:schemeClr val="bg1"/>
          </a:solidFill>
          <a:ln/>
        </p:spPr>
        <p:txBody>
          <a:bodyPr wrap="square" lIns="0" tIns="0" rIns="0" bIns="0" rtlCol="0" anchor="ctr"/>
          <a:lstStyle/>
          <a:p>
            <a:pPr algn="ctr" indent="0" marL="0">
              <a:buNone/>
            </a:pPr>
            <a:r>
              <a:rPr lang="en-US" sz="2400" b="1" dirty="0">
                <a:solidFill>
                  <a:schemeClr val="tx2"/>
                </a:solidFill>
              </a:rPr>
              <a:t>J</a:t>
            </a:r>
            <a:endParaRPr lang="en-US" sz="2400" dirty="0"/>
          </a:p>
        </p:txBody>
      </p:sp>
      <p:sp>
        <p:nvSpPr>
          <p:cNvPr id="7" name="Caption function"/>
          <p:cNvSpPr txBox="1"/>
          <p:nvPr/>
        </p:nvSpPr>
        <p:spPr>
          <a:xfrm>
            <a:off x="6172200" y="1517904"/>
            <a:ext cx="2377440" cy="256032"/>
          </a:xfrm>
          <a:prstGeom prst="rect">
            <a:avLst/>
          </a:prstGeom>
          <a:noFill/>
          <a:ln/>
        </p:spPr>
        <p:txBody>
          <a:bodyPr wrap="square" lIns="0" tIns="0" rIns="0" bIns="0" rtlCol="0" anchor="t"/>
          <a:lstStyle/>
          <a:p>
            <a:pPr algn="ctr" indent="0" marL="0">
              <a:buNone/>
            </a:pPr>
            <a:r>
              <a:rPr lang="en-US" sz="1100" dirty="0">
                <a:solidFill>
                  <a:schemeClr val="accent5"/>
                </a:solidFill>
              </a:rPr>
              <a:t>unit of energy(mass, v)</a:t>
            </a:r>
            <a:endParaRPr lang="en-US" sz="1100" dirty="0"/>
          </a:p>
        </p:txBody>
      </p:sp>
      <p:sp>
        <p:nvSpPr>
          <p:cNvPr id="8" name="Divide"/>
          <p:cNvSpPr txBox="1"/>
          <p:nvPr/>
        </p:nvSpPr>
        <p:spPr>
          <a:xfrm>
            <a:off x="6172200" y="1792224"/>
            <a:ext cx="2377440" cy="36576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9" name="Unit of the variable"/>
          <p:cNvSpPr txBox="1"/>
          <p:nvPr/>
        </p:nvSpPr>
        <p:spPr>
          <a:xfrm>
            <a:off x="6172200" y="2194560"/>
            <a:ext cx="2377440" cy="566928"/>
          </a:xfrm>
          <a:prstGeom prst="roundRect">
            <a:avLst>
              <a:gd name="adj" fmla="val 50000"/>
            </a:avLst>
          </a:prstGeom>
          <a:solidFill>
            <a:schemeClr val="bg1"/>
          </a:solidFill>
          <a:ln/>
        </p:spPr>
        <p:txBody>
          <a:bodyPr wrap="square" lIns="0" tIns="0" rIns="0" bIns="0" rtlCol="0" anchor="ctr"/>
          <a:lstStyle/>
          <a:p>
            <a:pPr algn="ctr" indent="0" marL="0">
              <a:buNone/>
            </a:pPr>
            <a:r>
              <a:rPr lang="en-US" sz="2400" b="1" dirty="0">
                <a:solidFill>
                  <a:schemeClr val="tx2"/>
                </a:solidFill>
              </a:rPr>
              <a:t>m/s</a:t>
            </a:r>
            <a:endParaRPr lang="en-US" sz="2400" dirty="0"/>
          </a:p>
        </p:txBody>
      </p:sp>
      <p:sp>
        <p:nvSpPr>
          <p:cNvPr id="10" name="Caption variable"/>
          <p:cNvSpPr txBox="1"/>
          <p:nvPr/>
        </p:nvSpPr>
        <p:spPr>
          <a:xfrm>
            <a:off x="6172200" y="2798064"/>
            <a:ext cx="2377440" cy="256032"/>
          </a:xfrm>
          <a:prstGeom prst="rect">
            <a:avLst/>
          </a:prstGeom>
          <a:noFill/>
          <a:ln/>
        </p:spPr>
        <p:txBody>
          <a:bodyPr wrap="square" lIns="0" tIns="0" rIns="0" bIns="0" rtlCol="0" anchor="t"/>
          <a:lstStyle/>
          <a:p>
            <a:pPr algn="ctr" indent="0" marL="0">
              <a:buNone/>
            </a:pPr>
            <a:r>
              <a:rPr lang="en-US" sz="1100" dirty="0">
                <a:solidFill>
                  <a:schemeClr val="accent5"/>
                </a:solidFill>
              </a:rPr>
              <a:t>unit of v</a:t>
            </a:r>
            <a:endParaRPr lang="en-US" sz="1100" dirty="0"/>
          </a:p>
        </p:txBody>
      </p:sp>
      <p:sp>
        <p:nvSpPr>
          <p:cNvPr id="11" name="Equals"/>
          <p:cNvSpPr txBox="1"/>
          <p:nvPr/>
        </p:nvSpPr>
        <p:spPr>
          <a:xfrm>
            <a:off x="6172200" y="3072384"/>
            <a:ext cx="2377440" cy="36576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12" name="Unit of the derivative"/>
          <p:cNvSpPr txBox="1"/>
          <p:nvPr/>
        </p:nvSpPr>
        <p:spPr>
          <a:xfrm>
            <a:off x="6172200" y="3474720"/>
            <a:ext cx="2377440" cy="566928"/>
          </a:xfrm>
          <a:prstGeom prst="roundRect">
            <a:avLst>
              <a:gd name="adj" fmla="val 50000"/>
            </a:avLst>
          </a:prstGeom>
          <a:solidFill>
            <a:schemeClr val="accent2"/>
          </a:solidFill>
          <a:ln/>
        </p:spPr>
        <p:txBody>
          <a:bodyPr wrap="square" lIns="0" tIns="0" rIns="0" bIns="0" rtlCol="0" anchor="ctr"/>
          <a:lstStyle/>
          <a:p>
            <a:pPr algn="ctr" indent="0" marL="0">
              <a:buNone/>
            </a:pPr>
            <a:r>
              <a:rPr lang="en-US" sz="2400" b="1" dirty="0">
                <a:solidFill>
                  <a:schemeClr val="tx1"/>
                </a:solidFill>
              </a:rPr>
              <a:t>kg·m/s</a:t>
            </a:r>
            <a:endParaRPr lang="en-US" sz="2400" dirty="0"/>
          </a:p>
        </p:txBody>
      </p:sp>
      <p:sp>
        <p:nvSpPr>
          <p:cNvPr id="13" name="Caption derivative"/>
          <p:cNvSpPr txBox="1"/>
          <p:nvPr/>
        </p:nvSpPr>
        <p:spPr>
          <a:xfrm>
            <a:off x="6172200" y="4078224"/>
            <a:ext cx="2377440" cy="256032"/>
          </a:xfrm>
          <a:prstGeom prst="rect">
            <a:avLst/>
          </a:prstGeom>
          <a:noFill/>
          <a:ln/>
        </p:spPr>
        <p:txBody>
          <a:bodyPr wrap="square" lIns="0" tIns="0" rIns="0" bIns="0" rtlCol="0" anchor="t"/>
          <a:lstStyle/>
          <a:p>
            <a:pPr algn="ctr" indent="0" marL="0">
              <a:buNone/>
            </a:pPr>
            <a:r>
              <a:rPr lang="en-US" sz="1100" dirty="0">
                <a:solidFill>
                  <a:schemeClr val="accent5"/>
                </a:solidFill>
              </a:rPr>
              <a:t>unit of d energy / d v</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The problem</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A unit mistake compiles and runs silently</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Problem &amp; objectives</a:t>
            </a:r>
            <a:endParaRPr lang="en-US" sz="1100" dirty="0"/>
          </a:p>
        </p:txBody>
      </p:sp>
      <p:sp>
        <p:nvSpPr>
          <p:cNvPr id="5" name="Orbiter card"/>
          <p:cNvSpPr/>
          <p:nvPr/>
        </p:nvSpPr>
        <p:spPr>
          <a:xfrm>
            <a:off x="457200" y="1554480"/>
            <a:ext cx="3291840" cy="2926080"/>
          </a:xfrm>
          <a:prstGeom prst="roundRect">
            <a:avLst>
              <a:gd name="adj" fmla="val 2500"/>
            </a:avLst>
          </a:prstGeom>
          <a:solidFill>
            <a:schemeClr val="tx2"/>
          </a:solidFill>
          <a:ln/>
        </p:spPr>
      </p:sp>
      <p:sp>
        <p:nvSpPr>
          <p:cNvPr id="6" name="Orbiter year"/>
          <p:cNvSpPr txBox="1"/>
          <p:nvPr/>
        </p:nvSpPr>
        <p:spPr>
          <a:xfrm>
            <a:off x="731520" y="1737360"/>
            <a:ext cx="2743200" cy="73152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1999</a:t>
            </a:r>
            <a:endParaRPr lang="en-US" sz="5400" dirty="0"/>
          </a:p>
        </p:txBody>
      </p:sp>
      <p:sp>
        <p:nvSpPr>
          <p:cNvPr id="7" name="Orbiter headline"/>
          <p:cNvSpPr txBox="1"/>
          <p:nvPr/>
        </p:nvSpPr>
        <p:spPr>
          <a:xfrm>
            <a:off x="731520" y="2560320"/>
            <a:ext cx="2743200" cy="365760"/>
          </a:xfrm>
          <a:prstGeom prst="rect">
            <a:avLst/>
          </a:prstGeom>
          <a:noFill/>
          <a:ln/>
        </p:spPr>
        <p:txBody>
          <a:bodyPr wrap="square" lIns="0" tIns="0" rIns="0" bIns="0" rtlCol="0" anchor="t"/>
          <a:lstStyle/>
          <a:p>
            <a:pPr indent="0" marL="0">
              <a:buNone/>
            </a:pPr>
            <a:r>
              <a:rPr lang="en-US" sz="1800" b="1" dirty="0">
                <a:solidFill>
                  <a:schemeClr val="bg1"/>
                </a:solidFill>
              </a:rPr>
              <a:t>Mars Climate Orbiter lost</a:t>
            </a:r>
            <a:endParaRPr lang="en-US" sz="1800" dirty="0"/>
          </a:p>
        </p:txBody>
      </p:sp>
      <p:sp>
        <p:nvSpPr>
          <p:cNvPr id="8" name="Orbiter detail"/>
          <p:cNvSpPr txBox="1"/>
          <p:nvPr/>
        </p:nvSpPr>
        <p:spPr>
          <a:xfrm>
            <a:off x="731520" y="3017520"/>
            <a:ext cx="2743200" cy="1280160"/>
          </a:xfrm>
          <a:prstGeom prst="rect">
            <a:avLst/>
          </a:prstGeom>
          <a:noFill/>
          <a:ln/>
        </p:spPr>
        <p:txBody>
          <a:bodyPr wrap="square" lIns="0" tIns="0" rIns="0" bIns="0" rtlCol="0" anchor="t"/>
          <a:lstStyle/>
          <a:p>
            <a:pPr indent="0" marL="0">
              <a:buNone/>
            </a:pPr>
            <a:r>
              <a:rPr lang="en-US" sz="1400" dirty="0">
                <a:solidFill>
                  <a:schemeClr val="accent5"/>
                </a:solidFill>
              </a:rPr>
              <a:t>NASA's investigation board named the root cause: English units were not translated into metric in ground navigation software.</a:t>
            </a:r>
            <a:endParaRPr lang="en-US" sz="1400" dirty="0"/>
          </a:p>
        </p:txBody>
      </p:sp>
      <p:sp>
        <p:nvSpPr>
          <p:cNvPr id="9" name="Point 1 number"/>
          <p:cNvSpPr txBox="1"/>
          <p:nvPr/>
        </p:nvSpPr>
        <p:spPr>
          <a:xfrm>
            <a:off x="4160520" y="1600200"/>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Point 1 heading"/>
          <p:cNvSpPr txBox="1"/>
          <p:nvPr/>
        </p:nvSpPr>
        <p:spPr>
          <a:xfrm>
            <a:off x="4754880" y="1581912"/>
            <a:ext cx="3931920" cy="329184"/>
          </a:xfrm>
          <a:prstGeom prst="rect">
            <a:avLst/>
          </a:prstGeom>
          <a:noFill/>
          <a:ln/>
        </p:spPr>
        <p:txBody>
          <a:bodyPr wrap="square" lIns="0" tIns="0" rIns="0" bIns="0" rtlCol="0" anchor="t"/>
          <a:lstStyle/>
          <a:p>
            <a:pPr indent="0" marL="0">
              <a:buNone/>
            </a:pPr>
            <a:r>
              <a:rPr lang="en-US" sz="1700" b="1" dirty="0">
                <a:solidFill>
                  <a:schemeClr val="tx1"/>
                </a:solidFill>
              </a:rPr>
              <a:t>Numbers carry no units</a:t>
            </a:r>
            <a:endParaRPr lang="en-US" sz="1700" dirty="0"/>
          </a:p>
        </p:txBody>
      </p:sp>
      <p:sp>
        <p:nvSpPr>
          <p:cNvPr id="11" name="Point 1 detail"/>
          <p:cNvSpPr txBox="1"/>
          <p:nvPr/>
        </p:nvSpPr>
        <p:spPr>
          <a:xfrm>
            <a:off x="4754880" y="1929384"/>
            <a:ext cx="3931920" cy="502920"/>
          </a:xfrm>
          <a:prstGeom prst="rect">
            <a:avLst/>
          </a:prstGeom>
          <a:noFill/>
          <a:ln/>
        </p:spPr>
        <p:txBody>
          <a:bodyPr wrap="square" lIns="0" tIns="0" rIns="0" bIns="0" rtlCol="0" anchor="t"/>
          <a:lstStyle/>
          <a:p>
            <a:pPr indent="0" marL="0">
              <a:buNone/>
            </a:pPr>
            <a:r>
              <a:rPr lang="en-US" sz="1400" dirty="0">
                <a:solidFill>
                  <a:schemeClr val="tx1"/>
                </a:solidFill>
              </a:rPr>
              <a:t>To the compiler, metres and feet are both just a double.</a:t>
            </a:r>
            <a:endParaRPr lang="en-US" sz="1400" dirty="0"/>
          </a:p>
        </p:txBody>
      </p:sp>
      <p:sp>
        <p:nvSpPr>
          <p:cNvPr id="12" name="Point 2 number"/>
          <p:cNvSpPr txBox="1"/>
          <p:nvPr/>
        </p:nvSpPr>
        <p:spPr>
          <a:xfrm>
            <a:off x="4160520" y="2587752"/>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Point 2 heading"/>
          <p:cNvSpPr txBox="1"/>
          <p:nvPr/>
        </p:nvSpPr>
        <p:spPr>
          <a:xfrm>
            <a:off x="4754880" y="2569464"/>
            <a:ext cx="3931920" cy="329184"/>
          </a:xfrm>
          <a:prstGeom prst="rect">
            <a:avLst/>
          </a:prstGeom>
          <a:noFill/>
          <a:ln/>
        </p:spPr>
        <p:txBody>
          <a:bodyPr wrap="square" lIns="0" tIns="0" rIns="0" bIns="0" rtlCol="0" anchor="t"/>
          <a:lstStyle/>
          <a:p>
            <a:pPr indent="0" marL="0">
              <a:buNone/>
            </a:pPr>
            <a:r>
              <a:rPr lang="en-US" sz="1700" b="1" dirty="0">
                <a:solidFill>
                  <a:schemeClr val="tx1"/>
                </a:solidFill>
              </a:rPr>
              <a:t>Derivatives carry units too</a:t>
            </a:r>
            <a:endParaRPr lang="en-US" sz="1700" dirty="0"/>
          </a:p>
        </p:txBody>
      </p:sp>
      <p:sp>
        <p:nvSpPr>
          <p:cNvPr id="14" name="Point 2 detail"/>
          <p:cNvSpPr txBox="1"/>
          <p:nvPr/>
        </p:nvSpPr>
        <p:spPr>
          <a:xfrm>
            <a:off x="4754880" y="2916936"/>
            <a:ext cx="3931920" cy="502920"/>
          </a:xfrm>
          <a:prstGeom prst="rect">
            <a:avLst/>
          </a:prstGeom>
          <a:noFill/>
          <a:ln/>
        </p:spPr>
        <p:txBody>
          <a:bodyPr wrap="square" lIns="0" tIns="0" rIns="0" bIns="0" rtlCol="0" anchor="t"/>
          <a:lstStyle/>
          <a:p>
            <a:pPr indent="0" marL="0">
              <a:buNone/>
            </a:pPr>
            <a:r>
              <a:rPr lang="en-US" sz="1400" dirty="0">
                <a:solidFill>
                  <a:schemeClr val="tx1"/>
                </a:solidFill>
              </a:rPr>
              <a:t>dE/dv is a momentum. A learning rate needs the unit [x]²/[f].</a:t>
            </a:r>
            <a:endParaRPr lang="en-US" sz="1400" dirty="0"/>
          </a:p>
        </p:txBody>
      </p:sp>
      <p:sp>
        <p:nvSpPr>
          <p:cNvPr id="15" name="Point 3 number"/>
          <p:cNvSpPr txBox="1"/>
          <p:nvPr/>
        </p:nvSpPr>
        <p:spPr>
          <a:xfrm>
            <a:off x="4160520" y="3575304"/>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Point 3 heading"/>
          <p:cNvSpPr txBox="1"/>
          <p:nvPr/>
        </p:nvSpPr>
        <p:spPr>
          <a:xfrm>
            <a:off x="4754880" y="3557016"/>
            <a:ext cx="3931920" cy="329184"/>
          </a:xfrm>
          <a:prstGeom prst="rect">
            <a:avLst/>
          </a:prstGeom>
          <a:noFill/>
          <a:ln/>
        </p:spPr>
        <p:txBody>
          <a:bodyPr wrap="square" lIns="0" tIns="0" rIns="0" bIns="0" rtlCol="0" anchor="t"/>
          <a:lstStyle/>
          <a:p>
            <a:pPr indent="0" marL="0">
              <a:buNone/>
            </a:pPr>
            <a:r>
              <a:rPr lang="en-US" sz="1700" b="1" dirty="0">
                <a:solidFill>
                  <a:schemeClr val="tx1"/>
                </a:solidFill>
              </a:rPr>
              <a:t>Autodiff ignores them</a:t>
            </a:r>
            <a:endParaRPr lang="en-US" sz="1700" dirty="0"/>
          </a:p>
        </p:txBody>
      </p:sp>
      <p:sp>
        <p:nvSpPr>
          <p:cNvPr id="17" name="Point 3 detail"/>
          <p:cNvSpPr txBox="1"/>
          <p:nvPr/>
        </p:nvSpPr>
        <p:spPr>
          <a:xfrm>
            <a:off x="4754880" y="3904488"/>
            <a:ext cx="3931920" cy="502920"/>
          </a:xfrm>
          <a:prstGeom prst="rect">
            <a:avLst/>
          </a:prstGeom>
          <a:noFill/>
          <a:ln/>
        </p:spPr>
        <p:txBody>
          <a:bodyPr wrap="square" lIns="0" tIns="0" rIns="0" bIns="0" rtlCol="0" anchor="t"/>
          <a:lstStyle/>
          <a:p>
            <a:pPr indent="0" marL="0">
              <a:buNone/>
            </a:pPr>
            <a:r>
              <a:rPr lang="en-US" sz="1400" dirty="0">
                <a:solidFill>
                  <a:schemeClr val="tx1"/>
                </a:solidFill>
              </a:rPr>
              <a:t>Gradient tools compute derivatives with no unit check at all.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Objectives</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What the compiler must do, and how we test it</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Problem &amp; objectives</a:t>
            </a:r>
            <a:endParaRPr lang="en-US" sz="1100" dirty="0"/>
          </a:p>
        </p:txBody>
      </p:sp>
      <p:sp>
        <p:nvSpPr>
          <p:cNvPr id="5" name="Objective 1 card"/>
          <p:cNvSpPr/>
          <p:nvPr/>
        </p:nvSpPr>
        <p:spPr>
          <a:xfrm>
            <a:off x="457200" y="1554480"/>
            <a:ext cx="2606040" cy="1371600"/>
          </a:xfrm>
          <a:prstGeom prst="roundRect">
            <a:avLst>
              <a:gd name="adj" fmla="val 5333"/>
            </a:avLst>
          </a:prstGeom>
          <a:solidFill>
            <a:schemeClr val="bg2"/>
          </a:solidFill>
          <a:ln/>
        </p:spPr>
      </p:sp>
      <p:sp>
        <p:nvSpPr>
          <p:cNvPr id="6" name="Objective 1 number"/>
          <p:cNvSpPr txBox="1"/>
          <p:nvPr/>
        </p:nvSpPr>
        <p:spPr>
          <a:xfrm>
            <a:off x="640080" y="17373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Objective 1 heading"/>
          <p:cNvSpPr txBox="1"/>
          <p:nvPr/>
        </p:nvSpPr>
        <p:spPr>
          <a:xfrm>
            <a:off x="1143000" y="1737360"/>
            <a:ext cx="1783080" cy="384048"/>
          </a:xfrm>
          <a:prstGeom prst="rect">
            <a:avLst/>
          </a:prstGeom>
          <a:noFill/>
          <a:ln/>
        </p:spPr>
        <p:txBody>
          <a:bodyPr wrap="square" lIns="0" tIns="0" rIns="0" bIns="0" rtlCol="0" anchor="ctr"/>
          <a:lstStyle/>
          <a:p>
            <a:pPr indent="0" marL="0">
              <a:buNone/>
            </a:pPr>
            <a:r>
              <a:rPr lang="en-US" sz="1700" b="1" dirty="0">
                <a:solidFill>
                  <a:schemeClr val="tx2"/>
                </a:solidFill>
              </a:rPr>
              <a:t>Language</a:t>
            </a:r>
            <a:endParaRPr lang="en-US" sz="1700" dirty="0"/>
          </a:p>
        </p:txBody>
      </p:sp>
      <p:sp>
        <p:nvSpPr>
          <p:cNvPr id="8" name="Objective 1 detail"/>
          <p:cNvSpPr txBox="1"/>
          <p:nvPr/>
        </p:nvSpPr>
        <p:spPr>
          <a:xfrm>
            <a:off x="640080" y="2249424"/>
            <a:ext cx="2240280" cy="603504"/>
          </a:xfrm>
          <a:prstGeom prst="rect">
            <a:avLst/>
          </a:prstGeom>
          <a:noFill/>
          <a:ln/>
        </p:spPr>
        <p:txBody>
          <a:bodyPr wrap="square" lIns="0" tIns="0" rIns="0" bIns="0" rtlCol="0" anchor="t"/>
          <a:lstStyle/>
          <a:p>
            <a:pPr indent="0" marL="0">
              <a:buNone/>
            </a:pPr>
            <a:r>
              <a:rPr lang="en-US" sz="1400" dirty="0">
                <a:solidFill>
                  <a:schemeClr val="tx1"/>
                </a:solidFill>
              </a:rPr>
              <a:t>A small imperative language with unit annotations</a:t>
            </a:r>
            <a:endParaRPr lang="en-US" sz="1400" dirty="0"/>
          </a:p>
        </p:txBody>
      </p:sp>
      <p:sp>
        <p:nvSpPr>
          <p:cNvPr id="9" name="Objective 2 card"/>
          <p:cNvSpPr/>
          <p:nvPr/>
        </p:nvSpPr>
        <p:spPr>
          <a:xfrm>
            <a:off x="3268980" y="1554480"/>
            <a:ext cx="2606040" cy="1371600"/>
          </a:xfrm>
          <a:prstGeom prst="roundRect">
            <a:avLst>
              <a:gd name="adj" fmla="val 5333"/>
            </a:avLst>
          </a:prstGeom>
          <a:solidFill>
            <a:schemeClr val="bg2"/>
          </a:solidFill>
          <a:ln/>
        </p:spPr>
      </p:sp>
      <p:sp>
        <p:nvSpPr>
          <p:cNvPr id="10" name="Objective 2 number"/>
          <p:cNvSpPr txBox="1"/>
          <p:nvPr/>
        </p:nvSpPr>
        <p:spPr>
          <a:xfrm>
            <a:off x="3451860" y="17373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Objective 2 heading"/>
          <p:cNvSpPr txBox="1"/>
          <p:nvPr/>
        </p:nvSpPr>
        <p:spPr>
          <a:xfrm>
            <a:off x="3954780" y="1737360"/>
            <a:ext cx="1783080" cy="384048"/>
          </a:xfrm>
          <a:prstGeom prst="rect">
            <a:avLst/>
          </a:prstGeom>
          <a:noFill/>
          <a:ln/>
        </p:spPr>
        <p:txBody>
          <a:bodyPr wrap="square" lIns="0" tIns="0" rIns="0" bIns="0" rtlCol="0" anchor="ctr"/>
          <a:lstStyle/>
          <a:p>
            <a:pPr indent="0" marL="0">
              <a:buNone/>
            </a:pPr>
            <a:r>
              <a:rPr lang="en-US" sz="1700" b="1" dirty="0">
                <a:solidFill>
                  <a:schemeClr val="tx2"/>
                </a:solidFill>
              </a:rPr>
              <a:t>Unit checking</a:t>
            </a:r>
            <a:endParaRPr lang="en-US" sz="1700" dirty="0"/>
          </a:p>
        </p:txBody>
      </p:sp>
      <p:sp>
        <p:nvSpPr>
          <p:cNvPr id="12" name="Objective 2 detail"/>
          <p:cNvSpPr txBox="1"/>
          <p:nvPr/>
        </p:nvSpPr>
        <p:spPr>
          <a:xfrm>
            <a:off x="3451860" y="2249424"/>
            <a:ext cx="2240280" cy="603504"/>
          </a:xfrm>
          <a:prstGeom prst="rect">
            <a:avLst/>
          </a:prstGeom>
          <a:noFill/>
          <a:ln/>
        </p:spPr>
        <p:txBody>
          <a:bodyPr wrap="square" lIns="0" tIns="0" rIns="0" bIns="0" rtlCol="0" anchor="t"/>
          <a:lstStyle/>
          <a:p>
            <a:pPr indent="0" marL="0">
              <a:buNone/>
            </a:pPr>
            <a:r>
              <a:rPr lang="en-US" sz="1400" dirty="0">
                <a:solidFill>
                  <a:schemeClr val="tx1"/>
                </a:solidFill>
              </a:rPr>
              <a:t>Infer and check the unit of every expression</a:t>
            </a:r>
            <a:endParaRPr lang="en-US" sz="1400" dirty="0"/>
          </a:p>
        </p:txBody>
      </p:sp>
      <p:sp>
        <p:nvSpPr>
          <p:cNvPr id="13" name="Objective 3 card"/>
          <p:cNvSpPr/>
          <p:nvPr/>
        </p:nvSpPr>
        <p:spPr>
          <a:xfrm>
            <a:off x="6080760" y="1554480"/>
            <a:ext cx="2606040" cy="1371600"/>
          </a:xfrm>
          <a:prstGeom prst="roundRect">
            <a:avLst>
              <a:gd name="adj" fmla="val 5333"/>
            </a:avLst>
          </a:prstGeom>
          <a:solidFill>
            <a:schemeClr val="bg2"/>
          </a:solidFill>
          <a:ln/>
        </p:spPr>
      </p:sp>
      <p:sp>
        <p:nvSpPr>
          <p:cNvPr id="14" name="Objective 3 number"/>
          <p:cNvSpPr txBox="1"/>
          <p:nvPr/>
        </p:nvSpPr>
        <p:spPr>
          <a:xfrm>
            <a:off x="6263640" y="17373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5" name="Objective 3 heading"/>
          <p:cNvSpPr txBox="1"/>
          <p:nvPr/>
        </p:nvSpPr>
        <p:spPr>
          <a:xfrm>
            <a:off x="6766560" y="1737360"/>
            <a:ext cx="1783080" cy="384048"/>
          </a:xfrm>
          <a:prstGeom prst="rect">
            <a:avLst/>
          </a:prstGeom>
          <a:noFill/>
          <a:ln/>
        </p:spPr>
        <p:txBody>
          <a:bodyPr wrap="square" lIns="0" tIns="0" rIns="0" bIns="0" rtlCol="0" anchor="ctr"/>
          <a:lstStyle/>
          <a:p>
            <a:pPr indent="0" marL="0">
              <a:buNone/>
            </a:pPr>
            <a:r>
              <a:rPr lang="en-US" sz="1700" b="1" dirty="0">
                <a:solidFill>
                  <a:schemeClr val="tx2"/>
                </a:solidFill>
              </a:rPr>
              <a:t>Differentiation</a:t>
            </a:r>
            <a:endParaRPr lang="en-US" sz="1700" dirty="0"/>
          </a:p>
        </p:txBody>
      </p:sp>
      <p:sp>
        <p:nvSpPr>
          <p:cNvPr id="16" name="Objective 3 detail"/>
          <p:cNvSpPr txBox="1"/>
          <p:nvPr/>
        </p:nvSpPr>
        <p:spPr>
          <a:xfrm>
            <a:off x="6263640" y="2249424"/>
            <a:ext cx="2240280" cy="603504"/>
          </a:xfrm>
          <a:prstGeom prst="rect">
            <a:avLst/>
          </a:prstGeom>
          <a:noFill/>
          <a:ln/>
        </p:spPr>
        <p:txBody>
          <a:bodyPr wrap="square" lIns="0" tIns="0" rIns="0" bIns="0" rtlCol="0" anchor="t"/>
          <a:lstStyle/>
          <a:p>
            <a:pPr indent="0" marL="0">
              <a:buNone/>
            </a:pPr>
            <a:r>
              <a:rPr lang="en-US" sz="1400" dirty="0">
                <a:solidFill>
                  <a:schemeClr val="tx1"/>
                </a:solidFill>
              </a:rPr>
              <a:t>Forward mode; each derivative gets the unit [f]/[x]</a:t>
            </a:r>
            <a:endParaRPr lang="en-US" sz="1400" dirty="0"/>
          </a:p>
        </p:txBody>
      </p:sp>
      <p:sp>
        <p:nvSpPr>
          <p:cNvPr id="17" name="Objective 4 card"/>
          <p:cNvSpPr/>
          <p:nvPr/>
        </p:nvSpPr>
        <p:spPr>
          <a:xfrm>
            <a:off x="457200" y="3090672"/>
            <a:ext cx="2606040" cy="1371600"/>
          </a:xfrm>
          <a:prstGeom prst="roundRect">
            <a:avLst>
              <a:gd name="adj" fmla="val 5333"/>
            </a:avLst>
          </a:prstGeom>
          <a:solidFill>
            <a:schemeClr val="bg2"/>
          </a:solidFill>
          <a:ln/>
        </p:spPr>
      </p:sp>
      <p:sp>
        <p:nvSpPr>
          <p:cNvPr id="18" name="Objective 4 number"/>
          <p:cNvSpPr txBox="1"/>
          <p:nvPr/>
        </p:nvSpPr>
        <p:spPr>
          <a:xfrm>
            <a:off x="640080" y="3273552"/>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9" name="Objective 4 heading"/>
          <p:cNvSpPr txBox="1"/>
          <p:nvPr/>
        </p:nvSpPr>
        <p:spPr>
          <a:xfrm>
            <a:off x="1143000" y="3273552"/>
            <a:ext cx="1783080" cy="384048"/>
          </a:xfrm>
          <a:prstGeom prst="rect">
            <a:avLst/>
          </a:prstGeom>
          <a:noFill/>
          <a:ln/>
        </p:spPr>
        <p:txBody>
          <a:bodyPr wrap="square" lIns="0" tIns="0" rIns="0" bIns="0" rtlCol="0" anchor="ctr"/>
          <a:lstStyle/>
          <a:p>
            <a:pPr indent="0" marL="0">
              <a:buNone/>
            </a:pPr>
            <a:r>
              <a:rPr lang="en-US" sz="1700" b="1" dirty="0">
                <a:solidFill>
                  <a:schemeClr val="tx2"/>
                </a:solidFill>
              </a:rPr>
              <a:t>Update checks</a:t>
            </a:r>
            <a:endParaRPr lang="en-US" sz="1700" dirty="0"/>
          </a:p>
        </p:txBody>
      </p:sp>
      <p:sp>
        <p:nvSpPr>
          <p:cNvPr id="20" name="Objective 4 detail"/>
          <p:cNvSpPr txBox="1"/>
          <p:nvPr/>
        </p:nvSpPr>
        <p:spPr>
          <a:xfrm>
            <a:off x="640080" y="3785616"/>
            <a:ext cx="2240280" cy="603504"/>
          </a:xfrm>
          <a:prstGeom prst="rect">
            <a:avLst/>
          </a:prstGeom>
          <a:noFill/>
          <a:ln/>
        </p:spPr>
        <p:txBody>
          <a:bodyPr wrap="square" lIns="0" tIns="0" rIns="0" bIns="0" rtlCol="0" anchor="t"/>
          <a:lstStyle/>
          <a:p>
            <a:pPr indent="0" marL="0">
              <a:buNone/>
            </a:pPr>
            <a:r>
              <a:rPr lang="en-US" sz="1400" dirty="0">
                <a:solidFill>
                  <a:schemeClr val="tx1"/>
                </a:solidFill>
              </a:rPr>
              <a:t>Check Newton, descent and Euler steps; solve ? units</a:t>
            </a:r>
            <a:endParaRPr lang="en-US" sz="1400" dirty="0"/>
          </a:p>
        </p:txBody>
      </p:sp>
      <p:sp>
        <p:nvSpPr>
          <p:cNvPr id="21" name="Objective 5 card"/>
          <p:cNvSpPr/>
          <p:nvPr/>
        </p:nvSpPr>
        <p:spPr>
          <a:xfrm>
            <a:off x="3268980" y="3090672"/>
            <a:ext cx="2606040" cy="1371600"/>
          </a:xfrm>
          <a:prstGeom prst="roundRect">
            <a:avLst>
              <a:gd name="adj" fmla="val 5333"/>
            </a:avLst>
          </a:prstGeom>
          <a:solidFill>
            <a:schemeClr val="bg2"/>
          </a:solidFill>
          <a:ln/>
        </p:spPr>
      </p:sp>
      <p:sp>
        <p:nvSpPr>
          <p:cNvPr id="22" name="Objective 5 number"/>
          <p:cNvSpPr txBox="1"/>
          <p:nvPr/>
        </p:nvSpPr>
        <p:spPr>
          <a:xfrm>
            <a:off x="3451860" y="3273552"/>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3" name="Objective 5 heading"/>
          <p:cNvSpPr txBox="1"/>
          <p:nvPr/>
        </p:nvSpPr>
        <p:spPr>
          <a:xfrm>
            <a:off x="3954780" y="3273552"/>
            <a:ext cx="1783080" cy="384048"/>
          </a:xfrm>
          <a:prstGeom prst="rect">
            <a:avLst/>
          </a:prstGeom>
          <a:noFill/>
          <a:ln/>
        </p:spPr>
        <p:txBody>
          <a:bodyPr wrap="square" lIns="0" tIns="0" rIns="0" bIns="0" rtlCol="0" anchor="ctr"/>
          <a:lstStyle/>
          <a:p>
            <a:pPr indent="0" marL="0">
              <a:buNone/>
            </a:pPr>
            <a:r>
              <a:rPr lang="en-US" sz="1700" b="1" dirty="0">
                <a:solidFill>
                  <a:schemeClr val="tx2"/>
                </a:solidFill>
              </a:rPr>
              <a:t>C output</a:t>
            </a:r>
            <a:endParaRPr lang="en-US" sz="1700" dirty="0"/>
          </a:p>
        </p:txBody>
      </p:sp>
      <p:sp>
        <p:nvSpPr>
          <p:cNvPr id="24" name="Objective 5 detail"/>
          <p:cNvSpPr txBox="1"/>
          <p:nvPr/>
        </p:nvSpPr>
        <p:spPr>
          <a:xfrm>
            <a:off x="3451860" y="3785616"/>
            <a:ext cx="2240280" cy="603504"/>
          </a:xfrm>
          <a:prstGeom prst="rect">
            <a:avLst/>
          </a:prstGeom>
          <a:noFill/>
          <a:ln/>
        </p:spPr>
        <p:txBody>
          <a:bodyPr wrap="square" lIns="0" tIns="0" rIns="0" bIns="0" rtlCol="0" anchor="t"/>
          <a:lstStyle/>
          <a:p>
            <a:pPr indent="0" marL="0">
              <a:buNone/>
            </a:pPr>
            <a:r>
              <a:rPr lang="en-US" sz="1400" dirty="0">
                <a:solidFill>
                  <a:schemeClr val="tx1"/>
                </a:solidFill>
              </a:rPr>
              <a:t>Emit C for each function and its gradient</a:t>
            </a:r>
            <a:endParaRPr lang="en-US" sz="1400" dirty="0"/>
          </a:p>
        </p:txBody>
      </p:sp>
      <p:sp>
        <p:nvSpPr>
          <p:cNvPr id="25" name="Objective 6 card"/>
          <p:cNvSpPr/>
          <p:nvPr/>
        </p:nvSpPr>
        <p:spPr>
          <a:xfrm>
            <a:off x="6080760" y="3090672"/>
            <a:ext cx="2606040" cy="1371600"/>
          </a:xfrm>
          <a:prstGeom prst="roundRect">
            <a:avLst>
              <a:gd name="adj" fmla="val 5333"/>
            </a:avLst>
          </a:prstGeom>
          <a:solidFill>
            <a:schemeClr val="bg2"/>
          </a:solidFill>
          <a:ln/>
        </p:spPr>
      </p:sp>
      <p:sp>
        <p:nvSpPr>
          <p:cNvPr id="26" name="Objective 6 number"/>
          <p:cNvSpPr txBox="1"/>
          <p:nvPr/>
        </p:nvSpPr>
        <p:spPr>
          <a:xfrm>
            <a:off x="6263640" y="3273552"/>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7" name="Objective 6 heading"/>
          <p:cNvSpPr txBox="1"/>
          <p:nvPr/>
        </p:nvSpPr>
        <p:spPr>
          <a:xfrm>
            <a:off x="6766560" y="3273552"/>
            <a:ext cx="1783080" cy="384048"/>
          </a:xfrm>
          <a:prstGeom prst="rect">
            <a:avLst/>
          </a:prstGeom>
          <a:noFill/>
          <a:ln/>
        </p:spPr>
        <p:txBody>
          <a:bodyPr wrap="square" lIns="0" tIns="0" rIns="0" bIns="0" rtlCol="0" anchor="ctr"/>
          <a:lstStyle/>
          <a:p>
            <a:pPr indent="0" marL="0">
              <a:buNone/>
            </a:pPr>
            <a:r>
              <a:rPr lang="en-US" sz="1700" b="1" dirty="0">
                <a:solidFill>
                  <a:schemeClr val="tx2"/>
                </a:solidFill>
              </a:rPr>
              <a:t>Evaluation</a:t>
            </a:r>
            <a:endParaRPr lang="en-US" sz="1700" dirty="0"/>
          </a:p>
        </p:txBody>
      </p:sp>
      <p:sp>
        <p:nvSpPr>
          <p:cNvPr id="28" name="Objective 6 detail"/>
          <p:cNvSpPr txBox="1"/>
          <p:nvPr/>
        </p:nvSpPr>
        <p:spPr>
          <a:xfrm>
            <a:off x="6263640" y="3785616"/>
            <a:ext cx="2240280" cy="603504"/>
          </a:xfrm>
          <a:prstGeom prst="rect">
            <a:avLst/>
          </a:prstGeom>
          <a:noFill/>
          <a:ln/>
        </p:spPr>
        <p:txBody>
          <a:bodyPr wrap="square" lIns="0" tIns="0" rIns="0" bIns="0" rtlCol="0" anchor="t"/>
          <a:lstStyle/>
          <a:p>
            <a:pPr indent="0" marL="0">
              <a:buNone/>
            </a:pPr>
            <a:r>
              <a:rPr lang="en-US" sz="1400" dirty="0">
                <a:solidFill>
                  <a:schemeClr val="tx1"/>
                </a:solidFill>
              </a:rPr>
              <a:t>Injected unit bugs, finite differences, code speed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Literature survey</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Two mature fields that rarely meet</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Literature survey</a:t>
            </a:r>
            <a:endParaRPr lang="en-US" sz="1100" dirty="0"/>
          </a:p>
        </p:txBody>
      </p:sp>
      <p:graphicFrame>
        <p:nvGraphicFramePr>
          <p:cNvPr id="5" name="Literature table"/>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737360"/>
                <a:gridCol w="3931920"/>
                <a:gridCol w="2560320"/>
              </a:tblGrid>
              <a:tr h="420624">
                <a:tc>
                  <a:txBody>
                    <a:bodyPr/>
                    <a:lstStyle/>
                    <a:p>
                      <a:pPr indent="0" marL="0">
                        <a:buNone/>
                      </a:pPr>
                      <a:r>
                        <a:rPr lang="en-US" sz="1400" b="1" dirty="0">
                          <a:solidFill>
                            <a:schemeClr val="bg1"/>
                          </a:solidFill>
                        </a:rPr>
                        <a:t>Area</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Representative work</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Missing for this problem</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rPr>
                        <a:t>Unit checking</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Kennedy's dimension types (F#), Osprey for C, unit inference for Fortran</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No differentiation</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Autodiff</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Tapenade, Clad, Tangent, Enzyme</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 units</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rPr>
                        <a:t>Units + autodiff</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mp-units, unxt (JAX), ForwardDiff with Unitful</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Libraries; derivative units given by hand</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rPr>
                        <a:t>Theory</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2026 preprint on dimensional types; unit analysis of learning rates</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 autodiff implementation</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Adjacent</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NEURON modlunit, Pasado</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ODE states only, or no units</a:t>
                      </a:r>
                      <a:endParaRPr lang="en-US" sz="1400" dirty="0"/>
                    </a:p>
                  </a:txBody>
                  <a:tcPr marL="109728" marR="109728" marT="45720" marB="45720" anchor="ctr">
                    <a:lnL w="9525" cap="flat" cmpd="sng" algn="ctr">
                      <a:solidFill>
                        <a:srgbClr val="BFE0D6"/>
                      </a:solidFill>
                      <a:prstDash val="solid"/>
                      <a:round/>
                      <a:headEnd type="none" w="med" len="med"/>
                      <a:tailEnd type="none" w="med" len="med"/>
                    </a:lnL>
                    <a:lnR w="9525" cap="flat" cmpd="sng" algn="ctr">
                      <a:solidFill>
                        <a:srgbClr val="BFE0D6"/>
                      </a:solidFill>
                      <a:prstDash val="solid"/>
                      <a:round/>
                      <a:headEnd type="none" w="med" len="med"/>
                      <a:tailEnd type="none" w="med" len="med"/>
                    </a:lnR>
                    <a:lnT w="9525" cap="flat" cmpd="sng" algn="ctr">
                      <a:solidFill>
                        <a:srgbClr val="BFE0D6"/>
                      </a:solidFill>
                      <a:prstDash val="solid"/>
                      <a:round/>
                      <a:headEnd type="none" w="med" len="med"/>
                      <a:tailEnd type="none" w="med" len="med"/>
                    </a:lnT>
                    <a:lnB w="9525" cap="flat" cmpd="sng" algn="ctr">
                      <a:solidFill>
                        <a:srgbClr val="BFE0D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Gap and novelty</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The idea is known; a compiler that does it is not</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Novelty</a:t>
            </a:r>
            <a:endParaRPr lang="en-US" sz="1100" dirty="0"/>
          </a:p>
        </p:txBody>
      </p:sp>
      <p:sp>
        <p:nvSpPr>
          <p:cNvPr id="5" name="Gap card"/>
          <p:cNvSpPr/>
          <p:nvPr/>
        </p:nvSpPr>
        <p:spPr>
          <a:xfrm>
            <a:off x="457200" y="1554480"/>
            <a:ext cx="3474720" cy="2926080"/>
          </a:xfrm>
          <a:prstGeom prst="roundRect">
            <a:avLst>
              <a:gd name="adj" fmla="val 2500"/>
            </a:avLst>
          </a:prstGeom>
          <a:solidFill>
            <a:schemeClr val="tx2"/>
          </a:solidFill>
          <a:ln/>
        </p:spPr>
      </p:sp>
      <p:sp>
        <p:nvSpPr>
          <p:cNvPr id="6" name="Gap label"/>
          <p:cNvSpPr txBox="1"/>
          <p:nvPr/>
        </p:nvSpPr>
        <p:spPr>
          <a:xfrm>
            <a:off x="731520" y="1755648"/>
            <a:ext cx="292608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THE GAP</a:t>
            </a:r>
            <a:endParaRPr lang="en-US" sz="1200" dirty="0"/>
          </a:p>
        </p:txBody>
      </p:sp>
      <p:sp>
        <p:nvSpPr>
          <p:cNvPr id="7" name="Gap statement"/>
          <p:cNvSpPr txBox="1"/>
          <p:nvPr/>
        </p:nvSpPr>
        <p:spPr>
          <a:xfrm>
            <a:off x="731520" y="2103120"/>
            <a:ext cx="2926080" cy="1463040"/>
          </a:xfrm>
          <a:prstGeom prst="rect">
            <a:avLst/>
          </a:prstGeom>
          <a:noFill/>
          <a:ln/>
        </p:spPr>
        <p:txBody>
          <a:bodyPr wrap="square" lIns="0" tIns="0" rIns="0" bIns="0" rtlCol="0" anchor="t"/>
          <a:lstStyle/>
          <a:p>
            <a:pPr indent="0" marL="0">
              <a:buNone/>
            </a:pPr>
            <a:r>
              <a:rPr lang="en-US" sz="1700" b="1" dirty="0">
                <a:solidFill>
                  <a:schemeClr val="bg1"/>
                </a:solidFill>
              </a:rPr>
              <a:t>No open, evaluated source-to-source compiler statically infers derivative units for general functions and emits C.</a:t>
            </a:r>
            <a:endParaRPr lang="en-US" sz="1700" dirty="0"/>
          </a:p>
        </p:txBody>
      </p:sp>
      <p:sp>
        <p:nvSpPr>
          <p:cNvPr id="8" name="Not claimed"/>
          <p:cNvSpPr txBox="1"/>
          <p:nvPr/>
        </p:nvSpPr>
        <p:spPr>
          <a:xfrm>
            <a:off x="731520" y="3703320"/>
            <a:ext cx="2926080" cy="640080"/>
          </a:xfrm>
          <a:prstGeom prst="rect">
            <a:avLst/>
          </a:prstGeom>
          <a:noFill/>
          <a:ln/>
        </p:spPr>
        <p:txBody>
          <a:bodyPr wrap="square" lIns="0" tIns="0" rIns="0" bIns="0" rtlCol="0" anchor="t"/>
          <a:lstStyle/>
          <a:p>
            <a:pPr indent="0" marL="0">
              <a:buNone/>
            </a:pPr>
            <a:r>
              <a:rPr lang="en-US" sz="1200" i="1" dirty="0">
                <a:solidFill>
                  <a:schemeClr val="accent5"/>
                </a:solidFill>
              </a:rPr>
              <a:t>Not claimed: that a derivative's unit is a quotient of units. That is prior work.</a:t>
            </a:r>
            <a:endParaRPr lang="en-US" sz="1200" dirty="0"/>
          </a:p>
        </p:txBody>
      </p:sp>
      <p:sp>
        <p:nvSpPr>
          <p:cNvPr id="9" name="Novelty label"/>
          <p:cNvSpPr txBox="1"/>
          <p:nvPr/>
        </p:nvSpPr>
        <p:spPr>
          <a:xfrm>
            <a:off x="4343400" y="1572768"/>
            <a:ext cx="42976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WHAT IS NEW</a:t>
            </a:r>
            <a:endParaRPr lang="en-US" sz="1200" dirty="0"/>
          </a:p>
        </p:txBody>
      </p:sp>
      <p:sp>
        <p:nvSpPr>
          <p:cNvPr id="10" name="Novelty 1 marker"/>
          <p:cNvSpPr/>
          <p:nvPr/>
        </p:nvSpPr>
        <p:spPr>
          <a:xfrm>
            <a:off x="4343400" y="2002536"/>
            <a:ext cx="164592" cy="164592"/>
          </a:xfrm>
          <a:prstGeom prst="ellipse">
            <a:avLst/>
          </a:prstGeom>
          <a:solidFill>
            <a:schemeClr val="accent2"/>
          </a:solidFill>
          <a:ln/>
        </p:spPr>
      </p:sp>
      <p:sp>
        <p:nvSpPr>
          <p:cNvPr id="11" name="Novelty 1"/>
          <p:cNvSpPr txBox="1"/>
          <p:nvPr/>
        </p:nvSpPr>
        <p:spPr>
          <a:xfrm>
            <a:off x="4663440" y="1938528"/>
            <a:ext cx="4023360" cy="566928"/>
          </a:xfrm>
          <a:prstGeom prst="rect">
            <a:avLst/>
          </a:prstGeom>
          <a:noFill/>
          <a:ln/>
        </p:spPr>
        <p:txBody>
          <a:bodyPr wrap="square" lIns="0" tIns="0" rIns="0" bIns="0" rtlCol="0" anchor="t"/>
          <a:lstStyle/>
          <a:p>
            <a:pPr indent="0" marL="0">
              <a:buNone/>
            </a:pPr>
            <a:r>
              <a:rPr lang="en-US" sz="1600" b="1" dirty="0">
                <a:solidFill>
                  <a:schemeClr val="tx2"/>
                </a:solidFill>
              </a:rPr>
              <a:t>Static inference</a:t>
            </a:r>
            <a:endParaRPr lang="en-US" sz="1600" dirty="0"/>
          </a:p>
          <a:p>
            <a:pPr indent="0" marL="0">
              <a:buNone/>
            </a:pPr>
            <a:r>
              <a:rPr lang="en-US" sz="1400" dirty="0">
                <a:solidFill>
                  <a:schemeClr val="tx1"/>
                </a:solidFill>
              </a:rPr>
              <a:t>Derivative units are computed, not declared by hand</a:t>
            </a:r>
            <a:endParaRPr lang="en-US" sz="1600" dirty="0"/>
          </a:p>
        </p:txBody>
      </p:sp>
      <p:sp>
        <p:nvSpPr>
          <p:cNvPr id="12" name="Novelty 2 marker"/>
          <p:cNvSpPr/>
          <p:nvPr/>
        </p:nvSpPr>
        <p:spPr>
          <a:xfrm>
            <a:off x="4343400" y="2660904"/>
            <a:ext cx="164592" cy="164592"/>
          </a:xfrm>
          <a:prstGeom prst="ellipse">
            <a:avLst/>
          </a:prstGeom>
          <a:solidFill>
            <a:schemeClr val="accent2"/>
          </a:solidFill>
          <a:ln/>
        </p:spPr>
      </p:sp>
      <p:sp>
        <p:nvSpPr>
          <p:cNvPr id="13" name="Novelty 2"/>
          <p:cNvSpPr txBox="1"/>
          <p:nvPr/>
        </p:nvSpPr>
        <p:spPr>
          <a:xfrm>
            <a:off x="4663440" y="2596896"/>
            <a:ext cx="4023360" cy="566928"/>
          </a:xfrm>
          <a:prstGeom prst="rect">
            <a:avLst/>
          </a:prstGeom>
          <a:noFill/>
          <a:ln/>
        </p:spPr>
        <p:txBody>
          <a:bodyPr wrap="square" lIns="0" tIns="0" rIns="0" bIns="0" rtlCol="0" anchor="t"/>
          <a:lstStyle/>
          <a:p>
            <a:pPr indent="0" marL="0">
              <a:buNone/>
            </a:pPr>
            <a:r>
              <a:rPr lang="en-US" sz="1600" b="1" dirty="0">
                <a:solidFill>
                  <a:schemeClr val="tx2"/>
                </a:solidFill>
              </a:rPr>
              <a:t>Solved placeholders</a:t>
            </a:r>
            <a:endParaRPr lang="en-US" sz="1600" dirty="0"/>
          </a:p>
          <a:p>
            <a:pPr indent="0" marL="0">
              <a:buNone/>
            </a:pPr>
            <a:r>
              <a:rPr lang="en-US" sz="1400" dirty="0">
                <a:solidFill>
                  <a:schemeClr val="tx1"/>
                </a:solidFill>
              </a:rPr>
              <a:t>A ? unit is solved by Gaussian elimination</a:t>
            </a:r>
            <a:endParaRPr lang="en-US" sz="1600" dirty="0"/>
          </a:p>
        </p:txBody>
      </p:sp>
      <p:sp>
        <p:nvSpPr>
          <p:cNvPr id="14" name="Novelty 3 marker"/>
          <p:cNvSpPr/>
          <p:nvPr/>
        </p:nvSpPr>
        <p:spPr>
          <a:xfrm>
            <a:off x="4343400" y="3319272"/>
            <a:ext cx="164592" cy="164592"/>
          </a:xfrm>
          <a:prstGeom prst="ellipse">
            <a:avLst/>
          </a:prstGeom>
          <a:solidFill>
            <a:schemeClr val="accent2"/>
          </a:solidFill>
          <a:ln/>
        </p:spPr>
      </p:sp>
      <p:sp>
        <p:nvSpPr>
          <p:cNvPr id="15" name="Novelty 3"/>
          <p:cNvSpPr txBox="1"/>
          <p:nvPr/>
        </p:nvSpPr>
        <p:spPr>
          <a:xfrm>
            <a:off x="4663440" y="3255264"/>
            <a:ext cx="4023360" cy="566928"/>
          </a:xfrm>
          <a:prstGeom prst="rect">
            <a:avLst/>
          </a:prstGeom>
          <a:noFill/>
          <a:ln/>
        </p:spPr>
        <p:txBody>
          <a:bodyPr wrap="square" lIns="0" tIns="0" rIns="0" bIns="0" rtlCol="0" anchor="t"/>
          <a:lstStyle/>
          <a:p>
            <a:pPr indent="0" marL="0">
              <a:buNone/>
            </a:pPr>
            <a:r>
              <a:rPr lang="en-US" sz="1600" b="1" dirty="0">
                <a:solidFill>
                  <a:schemeClr val="tx2"/>
                </a:solidFill>
              </a:rPr>
              <a:t>Verified tangents</a:t>
            </a:r>
            <a:endParaRPr lang="en-US" sz="1600" dirty="0"/>
          </a:p>
          <a:p>
            <a:pPr indent="0" marL="0">
              <a:buNone/>
            </a:pPr>
            <a:r>
              <a:rPr lang="en-US" sz="1400" dirty="0">
                <a:solidFill>
                  <a:schemeClr val="tx1"/>
                </a:solidFill>
              </a:rPr>
              <a:t>The unit of every generated tangent is re-derived</a:t>
            </a:r>
            <a:endParaRPr lang="en-US" sz="1600" dirty="0"/>
          </a:p>
        </p:txBody>
      </p:sp>
      <p:sp>
        <p:nvSpPr>
          <p:cNvPr id="16" name="Novelty 4 marker"/>
          <p:cNvSpPr/>
          <p:nvPr/>
        </p:nvSpPr>
        <p:spPr>
          <a:xfrm>
            <a:off x="4343400" y="3977640"/>
            <a:ext cx="164592" cy="164592"/>
          </a:xfrm>
          <a:prstGeom prst="ellipse">
            <a:avLst/>
          </a:prstGeom>
          <a:solidFill>
            <a:schemeClr val="accent2"/>
          </a:solidFill>
          <a:ln/>
        </p:spPr>
      </p:sp>
      <p:sp>
        <p:nvSpPr>
          <p:cNvPr id="17" name="Novelty 4"/>
          <p:cNvSpPr txBox="1"/>
          <p:nvPr/>
        </p:nvSpPr>
        <p:spPr>
          <a:xfrm>
            <a:off x="4663440" y="3913632"/>
            <a:ext cx="4023360" cy="566928"/>
          </a:xfrm>
          <a:prstGeom prst="rect">
            <a:avLst/>
          </a:prstGeom>
          <a:noFill/>
          <a:ln/>
        </p:spPr>
        <p:txBody>
          <a:bodyPr wrap="square" lIns="0" tIns="0" rIns="0" bIns="0" rtlCol="0" anchor="t"/>
          <a:lstStyle/>
          <a:p>
            <a:pPr indent="0" marL="0">
              <a:buNone/>
            </a:pPr>
            <a:r>
              <a:rPr lang="en-US" sz="1600" b="1" dirty="0">
                <a:solidFill>
                  <a:schemeClr val="tx2"/>
                </a:solidFill>
              </a:rPr>
              <a:t>Fractional exponents</a:t>
            </a:r>
            <a:endParaRPr lang="en-US" sz="1600" dirty="0"/>
          </a:p>
          <a:p>
            <a:pPr indent="0" marL="0">
              <a:buNone/>
            </a:pPr>
            <a:r>
              <a:rPr lang="en-US" sz="1400" dirty="0">
                <a:solidFill>
                  <a:schemeClr val="tx1"/>
                </a:solidFill>
              </a:rPr>
              <a:t>Exact end to end, such as volatility in 1/yr^(1/2)</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From source to unit</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The compiler reports that d energy / d v is a momentum</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Implementation</a:t>
            </a:r>
            <a:endParaRPr lang="en-US" sz="1100" dirty="0"/>
          </a:p>
        </p:txBody>
      </p:sp>
      <p:sp>
        <p:nvSpPr>
          <p:cNvPr id="5" name="Sample program background"/>
          <p:cNvSpPr/>
          <p:nvPr/>
        </p:nvSpPr>
        <p:spPr>
          <a:xfrm>
            <a:off x="457200" y="1554480"/>
            <a:ext cx="4480560" cy="2286000"/>
          </a:xfrm>
          <a:prstGeom prst="roundRect">
            <a:avLst>
              <a:gd name="adj" fmla="val 3200"/>
            </a:avLst>
          </a:prstGeom>
          <a:solidFill>
            <a:schemeClr val="tx1"/>
          </a:solidFill>
          <a:ln/>
        </p:spPr>
      </p:sp>
      <p:sp>
        <p:nvSpPr>
          <p:cNvPr id="6" name="Sample program"/>
          <p:cNvSpPr txBox="1"/>
          <p:nvPr/>
        </p:nvSpPr>
        <p:spPr>
          <a:xfrm>
            <a:off x="658368" y="1719072"/>
            <a:ext cx="4078224" cy="1956816"/>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unit kg, m, 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unit J = kg*m^2/s^2;</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fn energy(mass: kg, v: m/s) -&gt; J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0.5 * mass * v * v;</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chemeClr val="accent2"/>
                </a:solidFill>
                <a:latin typeface="Courier New" pitchFamily="34" charset="0"/>
                <a:ea typeface="Courier New" pitchFamily="34" charset="-122"/>
                <a:cs typeface="Courier New" pitchFamily="34" charset="-120"/>
              </a:rPr>
              <a:t>grad energy wrt v;</a:t>
            </a:r>
            <a:endParaRPr lang="en-US" sz="1300" dirty="0"/>
          </a:p>
        </p:txBody>
      </p:sp>
      <p:sp>
        <p:nvSpPr>
          <p:cNvPr id="7" name="Report label"/>
          <p:cNvSpPr txBox="1"/>
          <p:nvPr/>
        </p:nvSpPr>
        <p:spPr>
          <a:xfrm>
            <a:off x="5303520" y="1572768"/>
            <a:ext cx="33832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COMPILER REPORT</a:t>
            </a:r>
            <a:endParaRPr lang="en-US" sz="1200" dirty="0"/>
          </a:p>
        </p:txBody>
      </p:sp>
      <p:sp>
        <p:nvSpPr>
          <p:cNvPr id="8" name="Report card"/>
          <p:cNvSpPr/>
          <p:nvPr/>
        </p:nvSpPr>
        <p:spPr>
          <a:xfrm>
            <a:off x="5303520" y="1901952"/>
            <a:ext cx="3383280" cy="868680"/>
          </a:xfrm>
          <a:prstGeom prst="roundRect">
            <a:avLst>
              <a:gd name="adj" fmla="val 8421"/>
            </a:avLst>
          </a:prstGeom>
          <a:solidFill>
            <a:schemeClr val="bg2"/>
          </a:solidFill>
          <a:ln/>
        </p:spPr>
      </p:sp>
      <p:sp>
        <p:nvSpPr>
          <p:cNvPr id="9" name="Report text"/>
          <p:cNvSpPr txBox="1"/>
          <p:nvPr/>
        </p:nvSpPr>
        <p:spPr>
          <a:xfrm>
            <a:off x="5440680" y="2057400"/>
            <a:ext cx="3154680" cy="56692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fn energy(mass: kg, v: m/s) -&gt; J</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grad energy wrt v : kg·m/s</a:t>
            </a:r>
            <a:endParaRPr lang="en-US" sz="1200" dirty="0"/>
          </a:p>
        </p:txBody>
      </p:sp>
      <p:sp>
        <p:nvSpPr>
          <p:cNvPr id="10" name="Chip J"/>
          <p:cNvSpPr txBox="1"/>
          <p:nvPr/>
        </p:nvSpPr>
        <p:spPr>
          <a:xfrm>
            <a:off x="5303520" y="3017520"/>
            <a:ext cx="685800" cy="420624"/>
          </a:xfrm>
          <a:prstGeom prst="roundRect">
            <a:avLst>
              <a:gd name="adj" fmla="val 50000"/>
            </a:avLst>
          </a:prstGeom>
          <a:solidFill>
            <a:schemeClr val="tx2"/>
          </a:solidFill>
          <a:ln/>
        </p:spPr>
        <p:txBody>
          <a:bodyPr wrap="square" lIns="0" tIns="0" rIns="0" bIns="0" rtlCol="0" anchor="ctr"/>
          <a:lstStyle/>
          <a:p>
            <a:pPr algn="ctr" indent="0" marL="0">
              <a:buNone/>
            </a:pPr>
            <a:r>
              <a:rPr lang="en-US" sz="1600" b="1" dirty="0">
                <a:solidFill>
                  <a:schemeClr val="bg1"/>
                </a:solidFill>
              </a:rPr>
              <a:t>J</a:t>
            </a:r>
            <a:endParaRPr lang="en-US" sz="1600" dirty="0"/>
          </a:p>
        </p:txBody>
      </p:sp>
      <p:sp>
        <p:nvSpPr>
          <p:cNvPr id="11" name="Chip divide"/>
          <p:cNvSpPr txBox="1"/>
          <p:nvPr/>
        </p:nvSpPr>
        <p:spPr>
          <a:xfrm>
            <a:off x="5989320" y="3017520"/>
            <a:ext cx="365760" cy="420624"/>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12" name="Chip m/s"/>
          <p:cNvSpPr txBox="1"/>
          <p:nvPr/>
        </p:nvSpPr>
        <p:spPr>
          <a:xfrm>
            <a:off x="6355080" y="3017520"/>
            <a:ext cx="868680" cy="420624"/>
          </a:xfrm>
          <a:prstGeom prst="roundRect">
            <a:avLst>
              <a:gd name="adj" fmla="val 50000"/>
            </a:avLst>
          </a:prstGeom>
          <a:solidFill>
            <a:schemeClr val="tx2"/>
          </a:solidFill>
          <a:ln/>
        </p:spPr>
        <p:txBody>
          <a:bodyPr wrap="square" lIns="0" tIns="0" rIns="0" bIns="0" rtlCol="0" anchor="ctr"/>
          <a:lstStyle/>
          <a:p>
            <a:pPr algn="ctr" indent="0" marL="0">
              <a:buNone/>
            </a:pPr>
            <a:r>
              <a:rPr lang="en-US" sz="1600" b="1" dirty="0">
                <a:solidFill>
                  <a:schemeClr val="bg1"/>
                </a:solidFill>
              </a:rPr>
              <a:t>m/s</a:t>
            </a:r>
            <a:endParaRPr lang="en-US" sz="1600" dirty="0"/>
          </a:p>
        </p:txBody>
      </p:sp>
      <p:sp>
        <p:nvSpPr>
          <p:cNvPr id="13" name="Chip equals"/>
          <p:cNvSpPr txBox="1"/>
          <p:nvPr/>
        </p:nvSpPr>
        <p:spPr>
          <a:xfrm>
            <a:off x="7223760" y="3017520"/>
            <a:ext cx="365760" cy="420624"/>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14" name="Chip momentum"/>
          <p:cNvSpPr txBox="1"/>
          <p:nvPr/>
        </p:nvSpPr>
        <p:spPr>
          <a:xfrm>
            <a:off x="7589520" y="3017520"/>
            <a:ext cx="1097280" cy="420624"/>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rPr>
              <a:t>kg·m/s</a:t>
            </a:r>
            <a:endParaRPr lang="en-US" sz="1600" dirty="0"/>
          </a:p>
        </p:txBody>
      </p:sp>
      <p:sp>
        <p:nvSpPr>
          <p:cNvPr id="15" name="Chip caption"/>
          <p:cNvSpPr txBox="1"/>
          <p:nvPr/>
        </p:nvSpPr>
        <p:spPr>
          <a:xfrm>
            <a:off x="5303520" y="3511296"/>
            <a:ext cx="3383280" cy="274320"/>
          </a:xfrm>
          <a:prstGeom prst="rect">
            <a:avLst/>
          </a:prstGeom>
          <a:noFill/>
          <a:ln/>
        </p:spPr>
        <p:txBody>
          <a:bodyPr wrap="square" lIns="0" tIns="0" rIns="0" bIns="0" rtlCol="0" anchor="t"/>
          <a:lstStyle/>
          <a:p>
            <a:pPr algn="ctr" indent="0" marL="0">
              <a:buNone/>
            </a:pPr>
            <a:r>
              <a:rPr lang="en-US" sz="1200" i="1" dirty="0">
                <a:solidFill>
                  <a:schemeClr val="accent4"/>
                </a:solidFill>
              </a:rPr>
              <a:t>energy ÷ speed = momentum</a:t>
            </a:r>
            <a:endParaRPr lang="en-US" sz="1200" dirty="0"/>
          </a:p>
        </p:txBody>
      </p:sp>
      <p:sp>
        <p:nvSpPr>
          <p:cNvPr id="16" name="Verifier note card"/>
          <p:cNvSpPr/>
          <p:nvPr/>
        </p:nvSpPr>
        <p:spPr>
          <a:xfrm>
            <a:off x="457200" y="4023360"/>
            <a:ext cx="8229600" cy="502920"/>
          </a:xfrm>
          <a:prstGeom prst="roundRect">
            <a:avLst>
              <a:gd name="adj" fmla="val 14545"/>
            </a:avLst>
          </a:prstGeom>
          <a:solidFill>
            <a:schemeClr val="bg2"/>
          </a:solidFill>
          <a:ln/>
        </p:spPr>
      </p:sp>
      <p:sp>
        <p:nvSpPr>
          <p:cNvPr id="17" name="Verifier note"/>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400" dirty="0">
                <a:solidFill>
                  <a:schemeClr val="tx1"/>
                </a:solidFill>
              </a:rPr>
              <a:t>The same unit check then runs on the generated code: both terms of every tangent rule must agree.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Compiler pipeline</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Eight stages in Python; GCC turns the emitted C into machine code</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Implementation</a:t>
            </a:r>
            <a:endParaRPr lang="en-US" sz="1100" dirty="0"/>
          </a:p>
        </p:txBody>
      </p:sp>
      <p:sp>
        <p:nvSpPr>
          <p:cNvPr id="5" name="Stage 1 card"/>
          <p:cNvSpPr/>
          <p:nvPr/>
        </p:nvSpPr>
        <p:spPr>
          <a:xfrm>
            <a:off x="457200" y="1554480"/>
            <a:ext cx="1828800" cy="987552"/>
          </a:xfrm>
          <a:prstGeom prst="roundRect">
            <a:avLst>
              <a:gd name="adj" fmla="val 7407"/>
            </a:avLst>
          </a:prstGeom>
          <a:solidFill>
            <a:schemeClr val="bg2"/>
          </a:solidFill>
          <a:ln/>
        </p:spPr>
      </p:sp>
      <p:sp>
        <p:nvSpPr>
          <p:cNvPr id="6" name="Stage 1 number"/>
          <p:cNvSpPr txBox="1"/>
          <p:nvPr/>
        </p:nvSpPr>
        <p:spPr>
          <a:xfrm>
            <a:off x="594360" y="168249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Stage 1 name"/>
          <p:cNvSpPr txBox="1"/>
          <p:nvPr/>
        </p:nvSpPr>
        <p:spPr>
          <a:xfrm>
            <a:off x="1005840" y="1682496"/>
            <a:ext cx="1207008" cy="329184"/>
          </a:xfrm>
          <a:prstGeom prst="rect">
            <a:avLst/>
          </a:prstGeom>
          <a:noFill/>
          <a:ln/>
        </p:spPr>
        <p:txBody>
          <a:bodyPr wrap="square" lIns="0" tIns="0" rIns="0" bIns="0" rtlCol="0" anchor="ctr"/>
          <a:lstStyle/>
          <a:p>
            <a:pPr indent="0" marL="0">
              <a:buNone/>
            </a:pPr>
            <a:r>
              <a:rPr lang="en-US" sz="1400" b="1" dirty="0">
                <a:solidFill>
                  <a:schemeClr val="tx2"/>
                </a:solidFill>
              </a:rPr>
              <a:t>Lexer</a:t>
            </a:r>
            <a:endParaRPr lang="en-US" sz="1400" dirty="0"/>
          </a:p>
        </p:txBody>
      </p:sp>
      <p:sp>
        <p:nvSpPr>
          <p:cNvPr id="8" name="Stage 1 caption"/>
          <p:cNvSpPr txBox="1"/>
          <p:nvPr/>
        </p:nvSpPr>
        <p:spPr>
          <a:xfrm>
            <a:off x="594360" y="2084832"/>
            <a:ext cx="1600200" cy="384048"/>
          </a:xfrm>
          <a:prstGeom prst="rect">
            <a:avLst/>
          </a:prstGeom>
          <a:noFill/>
          <a:ln/>
        </p:spPr>
        <p:txBody>
          <a:bodyPr wrap="square" lIns="0" tIns="0" rIns="0" bIns="0" rtlCol="0" anchor="t"/>
          <a:lstStyle/>
          <a:p>
            <a:pPr indent="0" marL="0">
              <a:buNone/>
            </a:pPr>
            <a:r>
              <a:rPr lang="en-US" sz="1200" dirty="0">
                <a:solidFill>
                  <a:schemeClr val="tx1"/>
                </a:solidFill>
              </a:rPr>
              <a:t>tokens with line and column</a:t>
            </a:r>
            <a:endParaRPr lang="en-US" sz="1200" dirty="0"/>
          </a:p>
        </p:txBody>
      </p:sp>
      <p:sp>
        <p:nvSpPr>
          <p:cNvPr id="9" name="Arrow 1"/>
          <p:cNvSpPr/>
          <p:nvPr/>
        </p:nvSpPr>
        <p:spPr>
          <a:xfrm>
            <a:off x="2331720" y="2048256"/>
            <a:ext cx="210312" cy="0"/>
          </a:xfrm>
          <a:prstGeom prst="line">
            <a:avLst/>
          </a:prstGeom>
          <a:noFill/>
          <a:ln w="19050">
            <a:solidFill>
              <a:schemeClr val="accent4"/>
            </a:solidFill>
            <a:prstDash val="solid"/>
            <a:tailEnd type="triangle"/>
          </a:ln>
        </p:spPr>
      </p:sp>
      <p:sp>
        <p:nvSpPr>
          <p:cNvPr id="10" name="Stage 2 card"/>
          <p:cNvSpPr/>
          <p:nvPr/>
        </p:nvSpPr>
        <p:spPr>
          <a:xfrm>
            <a:off x="2590770" y="1554480"/>
            <a:ext cx="1828800" cy="987552"/>
          </a:xfrm>
          <a:prstGeom prst="roundRect">
            <a:avLst>
              <a:gd name="adj" fmla="val 7407"/>
            </a:avLst>
          </a:prstGeom>
          <a:solidFill>
            <a:schemeClr val="bg2"/>
          </a:solidFill>
          <a:ln/>
        </p:spPr>
      </p:sp>
      <p:sp>
        <p:nvSpPr>
          <p:cNvPr id="11" name="Stage 2 number"/>
          <p:cNvSpPr txBox="1"/>
          <p:nvPr/>
        </p:nvSpPr>
        <p:spPr>
          <a:xfrm>
            <a:off x="2727930" y="168249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Stage 2 name"/>
          <p:cNvSpPr txBox="1"/>
          <p:nvPr/>
        </p:nvSpPr>
        <p:spPr>
          <a:xfrm>
            <a:off x="3139410" y="1682496"/>
            <a:ext cx="1207008" cy="329184"/>
          </a:xfrm>
          <a:prstGeom prst="rect">
            <a:avLst/>
          </a:prstGeom>
          <a:noFill/>
          <a:ln/>
        </p:spPr>
        <p:txBody>
          <a:bodyPr wrap="square" lIns="0" tIns="0" rIns="0" bIns="0" rtlCol="0" anchor="ctr"/>
          <a:lstStyle/>
          <a:p>
            <a:pPr indent="0" marL="0">
              <a:buNone/>
            </a:pPr>
            <a:r>
              <a:rPr lang="en-US" sz="1400" b="1" dirty="0">
                <a:solidFill>
                  <a:schemeClr val="tx2"/>
                </a:solidFill>
              </a:rPr>
              <a:t>Parser</a:t>
            </a:r>
            <a:endParaRPr lang="en-US" sz="1400" dirty="0"/>
          </a:p>
        </p:txBody>
      </p:sp>
      <p:sp>
        <p:nvSpPr>
          <p:cNvPr id="13" name="Stage 2 caption"/>
          <p:cNvSpPr txBox="1"/>
          <p:nvPr/>
        </p:nvSpPr>
        <p:spPr>
          <a:xfrm>
            <a:off x="2727930" y="2084832"/>
            <a:ext cx="1600200" cy="384048"/>
          </a:xfrm>
          <a:prstGeom prst="rect">
            <a:avLst/>
          </a:prstGeom>
          <a:noFill/>
          <a:ln/>
        </p:spPr>
        <p:txBody>
          <a:bodyPr wrap="square" lIns="0" tIns="0" rIns="0" bIns="0" rtlCol="0" anchor="t"/>
          <a:lstStyle/>
          <a:p>
            <a:pPr indent="0" marL="0">
              <a:buNone/>
            </a:pPr>
            <a:r>
              <a:rPr lang="en-US" sz="1200" dirty="0">
                <a:solidFill>
                  <a:schemeClr val="tx1"/>
                </a:solidFill>
              </a:rPr>
              <a:t>recursive descent to a syntax tree</a:t>
            </a:r>
            <a:endParaRPr lang="en-US" sz="1200" dirty="0"/>
          </a:p>
        </p:txBody>
      </p:sp>
      <p:sp>
        <p:nvSpPr>
          <p:cNvPr id="14" name="Arrow 2"/>
          <p:cNvSpPr/>
          <p:nvPr/>
        </p:nvSpPr>
        <p:spPr>
          <a:xfrm>
            <a:off x="4465290" y="2048256"/>
            <a:ext cx="210312" cy="0"/>
          </a:xfrm>
          <a:prstGeom prst="line">
            <a:avLst/>
          </a:prstGeom>
          <a:noFill/>
          <a:ln w="19050">
            <a:solidFill>
              <a:schemeClr val="accent4"/>
            </a:solidFill>
            <a:prstDash val="solid"/>
            <a:tailEnd type="triangle"/>
          </a:ln>
        </p:spPr>
      </p:sp>
      <p:sp>
        <p:nvSpPr>
          <p:cNvPr id="15" name="Stage 3 card"/>
          <p:cNvSpPr/>
          <p:nvPr/>
        </p:nvSpPr>
        <p:spPr>
          <a:xfrm>
            <a:off x="4724339" y="1554480"/>
            <a:ext cx="1828800" cy="987552"/>
          </a:xfrm>
          <a:prstGeom prst="roundRect">
            <a:avLst>
              <a:gd name="adj" fmla="val 7407"/>
            </a:avLst>
          </a:prstGeom>
          <a:solidFill>
            <a:schemeClr val="bg2"/>
          </a:solidFill>
          <a:ln/>
        </p:spPr>
      </p:sp>
      <p:sp>
        <p:nvSpPr>
          <p:cNvPr id="16" name="Stage 3 number"/>
          <p:cNvSpPr txBox="1"/>
          <p:nvPr/>
        </p:nvSpPr>
        <p:spPr>
          <a:xfrm>
            <a:off x="4861499" y="168249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Stage 3 name"/>
          <p:cNvSpPr txBox="1"/>
          <p:nvPr/>
        </p:nvSpPr>
        <p:spPr>
          <a:xfrm>
            <a:off x="5272979" y="1682496"/>
            <a:ext cx="1207008" cy="329184"/>
          </a:xfrm>
          <a:prstGeom prst="rect">
            <a:avLst/>
          </a:prstGeom>
          <a:noFill/>
          <a:ln/>
        </p:spPr>
        <p:txBody>
          <a:bodyPr wrap="square" lIns="0" tIns="0" rIns="0" bIns="0" rtlCol="0" anchor="ctr"/>
          <a:lstStyle/>
          <a:p>
            <a:pPr indent="0" marL="0">
              <a:buNone/>
            </a:pPr>
            <a:r>
              <a:rPr lang="en-US" sz="1400" b="1" dirty="0">
                <a:solidFill>
                  <a:schemeClr val="tx2"/>
                </a:solidFill>
              </a:rPr>
              <a:t>Symbol table</a:t>
            </a:r>
            <a:endParaRPr lang="en-US" sz="1400" dirty="0"/>
          </a:p>
        </p:txBody>
      </p:sp>
      <p:sp>
        <p:nvSpPr>
          <p:cNvPr id="18" name="Stage 3 caption"/>
          <p:cNvSpPr txBox="1"/>
          <p:nvPr/>
        </p:nvSpPr>
        <p:spPr>
          <a:xfrm>
            <a:off x="4861499" y="2084832"/>
            <a:ext cx="1600200" cy="384048"/>
          </a:xfrm>
          <a:prstGeom prst="rect">
            <a:avLst/>
          </a:prstGeom>
          <a:noFill/>
          <a:ln/>
        </p:spPr>
        <p:txBody>
          <a:bodyPr wrap="square" lIns="0" tIns="0" rIns="0" bIns="0" rtlCol="0" anchor="t"/>
          <a:lstStyle/>
          <a:p>
            <a:pPr indent="0" marL="0">
              <a:buNone/>
            </a:pPr>
            <a:r>
              <a:rPr lang="en-US" sz="1200" dirty="0">
                <a:solidFill>
                  <a:schemeClr val="tx1"/>
                </a:solidFill>
              </a:rPr>
              <a:t>nested scopes, units of names</a:t>
            </a:r>
            <a:endParaRPr lang="en-US" sz="1200" dirty="0"/>
          </a:p>
        </p:txBody>
      </p:sp>
      <p:sp>
        <p:nvSpPr>
          <p:cNvPr id="19" name="Arrow 3"/>
          <p:cNvSpPr/>
          <p:nvPr/>
        </p:nvSpPr>
        <p:spPr>
          <a:xfrm>
            <a:off x="6598859" y="2048256"/>
            <a:ext cx="210312" cy="0"/>
          </a:xfrm>
          <a:prstGeom prst="line">
            <a:avLst/>
          </a:prstGeom>
          <a:noFill/>
          <a:ln w="19050">
            <a:solidFill>
              <a:schemeClr val="accent4"/>
            </a:solidFill>
            <a:prstDash val="solid"/>
            <a:tailEnd type="triangle"/>
          </a:ln>
        </p:spPr>
      </p:sp>
      <p:sp>
        <p:nvSpPr>
          <p:cNvPr id="20" name="Stage 4 card"/>
          <p:cNvSpPr/>
          <p:nvPr/>
        </p:nvSpPr>
        <p:spPr>
          <a:xfrm>
            <a:off x="6857909" y="1554480"/>
            <a:ext cx="1828800" cy="987552"/>
          </a:xfrm>
          <a:prstGeom prst="roundRect">
            <a:avLst>
              <a:gd name="adj" fmla="val 7407"/>
            </a:avLst>
          </a:prstGeom>
          <a:solidFill>
            <a:schemeClr val="bg2"/>
          </a:solidFill>
          <a:ln/>
        </p:spPr>
      </p:sp>
      <p:sp>
        <p:nvSpPr>
          <p:cNvPr id="21" name="Stage 4 number"/>
          <p:cNvSpPr txBox="1"/>
          <p:nvPr/>
        </p:nvSpPr>
        <p:spPr>
          <a:xfrm>
            <a:off x="6995069" y="168249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Stage 4 name"/>
          <p:cNvSpPr txBox="1"/>
          <p:nvPr/>
        </p:nvSpPr>
        <p:spPr>
          <a:xfrm>
            <a:off x="7406549" y="1682496"/>
            <a:ext cx="1207008" cy="329184"/>
          </a:xfrm>
          <a:prstGeom prst="rect">
            <a:avLst/>
          </a:prstGeom>
          <a:noFill/>
          <a:ln/>
        </p:spPr>
        <p:txBody>
          <a:bodyPr wrap="square" lIns="0" tIns="0" rIns="0" bIns="0" rtlCol="0" anchor="ctr"/>
          <a:lstStyle/>
          <a:p>
            <a:pPr indent="0" marL="0">
              <a:buNone/>
            </a:pPr>
            <a:r>
              <a:rPr lang="en-US" sz="1400" b="1" dirty="0">
                <a:solidFill>
                  <a:schemeClr val="tx2"/>
                </a:solidFill>
              </a:rPr>
              <a:t>Unit checker</a:t>
            </a:r>
            <a:endParaRPr lang="en-US" sz="1400" dirty="0"/>
          </a:p>
        </p:txBody>
      </p:sp>
      <p:sp>
        <p:nvSpPr>
          <p:cNvPr id="23" name="Stage 4 caption"/>
          <p:cNvSpPr txBox="1"/>
          <p:nvPr/>
        </p:nvSpPr>
        <p:spPr>
          <a:xfrm>
            <a:off x="6995069" y="2084832"/>
            <a:ext cx="1600200" cy="384048"/>
          </a:xfrm>
          <a:prstGeom prst="rect">
            <a:avLst/>
          </a:prstGeom>
          <a:noFill/>
          <a:ln/>
        </p:spPr>
        <p:txBody>
          <a:bodyPr wrap="square" lIns="0" tIns="0" rIns="0" bIns="0" rtlCol="0" anchor="t"/>
          <a:lstStyle/>
          <a:p>
            <a:pPr indent="0" marL="0">
              <a:buNone/>
            </a:pPr>
            <a:r>
              <a:rPr lang="en-US" sz="1200" dirty="0">
                <a:solidFill>
                  <a:schemeClr val="tx1"/>
                </a:solidFill>
              </a:rPr>
              <a:t>unit rules; solves ? units</a:t>
            </a:r>
            <a:endParaRPr lang="en-US" sz="1200" dirty="0"/>
          </a:p>
        </p:txBody>
      </p:sp>
      <p:sp>
        <p:nvSpPr>
          <p:cNvPr id="24" name="Stage 5 card"/>
          <p:cNvSpPr/>
          <p:nvPr/>
        </p:nvSpPr>
        <p:spPr>
          <a:xfrm>
            <a:off x="457200" y="2743200"/>
            <a:ext cx="1828800" cy="987552"/>
          </a:xfrm>
          <a:prstGeom prst="roundRect">
            <a:avLst>
              <a:gd name="adj" fmla="val 7407"/>
            </a:avLst>
          </a:prstGeom>
          <a:solidFill>
            <a:schemeClr val="tx2"/>
          </a:solidFill>
          <a:ln/>
        </p:spPr>
      </p:sp>
      <p:sp>
        <p:nvSpPr>
          <p:cNvPr id="25" name="Stage 5 number"/>
          <p:cNvSpPr txBox="1"/>
          <p:nvPr/>
        </p:nvSpPr>
        <p:spPr>
          <a:xfrm>
            <a:off x="594360" y="287121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Stage 5 name"/>
          <p:cNvSpPr txBox="1"/>
          <p:nvPr/>
        </p:nvSpPr>
        <p:spPr>
          <a:xfrm>
            <a:off x="1005840" y="2871216"/>
            <a:ext cx="1207008" cy="329184"/>
          </a:xfrm>
          <a:prstGeom prst="rect">
            <a:avLst/>
          </a:prstGeom>
          <a:noFill/>
          <a:ln/>
        </p:spPr>
        <p:txBody>
          <a:bodyPr wrap="square" lIns="0" tIns="0" rIns="0" bIns="0" rtlCol="0" anchor="ctr"/>
          <a:lstStyle/>
          <a:p>
            <a:pPr indent="0" marL="0">
              <a:buNone/>
            </a:pPr>
            <a:r>
              <a:rPr lang="en-US" sz="1400" b="1" dirty="0">
                <a:solidFill>
                  <a:schemeClr val="bg1"/>
                </a:solidFill>
              </a:rPr>
              <a:t>Lowering</a:t>
            </a:r>
            <a:endParaRPr lang="en-US" sz="1400" dirty="0"/>
          </a:p>
        </p:txBody>
      </p:sp>
      <p:sp>
        <p:nvSpPr>
          <p:cNvPr id="27" name="Stage 5 caption"/>
          <p:cNvSpPr txBox="1"/>
          <p:nvPr/>
        </p:nvSpPr>
        <p:spPr>
          <a:xfrm>
            <a:off x="594360" y="3273552"/>
            <a:ext cx="1600200" cy="384048"/>
          </a:xfrm>
          <a:prstGeom prst="rect">
            <a:avLst/>
          </a:prstGeom>
          <a:noFill/>
          <a:ln/>
        </p:spPr>
        <p:txBody>
          <a:bodyPr wrap="square" lIns="0" tIns="0" rIns="0" bIns="0" rtlCol="0" anchor="t"/>
          <a:lstStyle/>
          <a:p>
            <a:pPr indent="0" marL="0">
              <a:buNone/>
            </a:pPr>
            <a:r>
              <a:rPr lang="en-US" sz="1200" dirty="0">
                <a:solidFill>
                  <a:schemeClr val="accent5"/>
                </a:solidFill>
              </a:rPr>
              <a:t>three-address code with units</a:t>
            </a:r>
            <a:endParaRPr lang="en-US" sz="1200" dirty="0"/>
          </a:p>
        </p:txBody>
      </p:sp>
      <p:sp>
        <p:nvSpPr>
          <p:cNvPr id="28" name="Arrow 5"/>
          <p:cNvSpPr/>
          <p:nvPr/>
        </p:nvSpPr>
        <p:spPr>
          <a:xfrm>
            <a:off x="2331720" y="3236976"/>
            <a:ext cx="210312" cy="0"/>
          </a:xfrm>
          <a:prstGeom prst="line">
            <a:avLst/>
          </a:prstGeom>
          <a:noFill/>
          <a:ln w="19050">
            <a:solidFill>
              <a:schemeClr val="accent4"/>
            </a:solidFill>
            <a:prstDash val="solid"/>
            <a:tailEnd type="triangle"/>
          </a:ln>
        </p:spPr>
      </p:sp>
      <p:sp>
        <p:nvSpPr>
          <p:cNvPr id="29" name="Stage 6 card"/>
          <p:cNvSpPr/>
          <p:nvPr/>
        </p:nvSpPr>
        <p:spPr>
          <a:xfrm>
            <a:off x="2590770" y="2743200"/>
            <a:ext cx="1828800" cy="987552"/>
          </a:xfrm>
          <a:prstGeom prst="roundRect">
            <a:avLst>
              <a:gd name="adj" fmla="val 7407"/>
            </a:avLst>
          </a:prstGeom>
          <a:solidFill>
            <a:schemeClr val="tx2"/>
          </a:solidFill>
          <a:ln/>
        </p:spPr>
      </p:sp>
      <p:sp>
        <p:nvSpPr>
          <p:cNvPr id="30" name="Stage 6 number"/>
          <p:cNvSpPr txBox="1"/>
          <p:nvPr/>
        </p:nvSpPr>
        <p:spPr>
          <a:xfrm>
            <a:off x="2727930" y="287121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1" name="Stage 6 name"/>
          <p:cNvSpPr txBox="1"/>
          <p:nvPr/>
        </p:nvSpPr>
        <p:spPr>
          <a:xfrm>
            <a:off x="3139410" y="2871216"/>
            <a:ext cx="1207008" cy="329184"/>
          </a:xfrm>
          <a:prstGeom prst="rect">
            <a:avLst/>
          </a:prstGeom>
          <a:noFill/>
          <a:ln/>
        </p:spPr>
        <p:txBody>
          <a:bodyPr wrap="square" lIns="0" tIns="0" rIns="0" bIns="0" rtlCol="0" anchor="ctr"/>
          <a:lstStyle/>
          <a:p>
            <a:pPr indent="0" marL="0">
              <a:buNone/>
            </a:pPr>
            <a:r>
              <a:rPr lang="en-US" sz="1400" b="1" dirty="0">
                <a:solidFill>
                  <a:schemeClr val="bg1"/>
                </a:solidFill>
              </a:rPr>
              <a:t>Differentiation</a:t>
            </a:r>
            <a:endParaRPr lang="en-US" sz="1400" dirty="0"/>
          </a:p>
        </p:txBody>
      </p:sp>
      <p:sp>
        <p:nvSpPr>
          <p:cNvPr id="32" name="Stage 6 caption"/>
          <p:cNvSpPr txBox="1"/>
          <p:nvPr/>
        </p:nvSpPr>
        <p:spPr>
          <a:xfrm>
            <a:off x="2727930" y="3273552"/>
            <a:ext cx="1600200" cy="384048"/>
          </a:xfrm>
          <a:prstGeom prst="rect">
            <a:avLst/>
          </a:prstGeom>
          <a:noFill/>
          <a:ln/>
        </p:spPr>
        <p:txBody>
          <a:bodyPr wrap="square" lIns="0" tIns="0" rIns="0" bIns="0" rtlCol="0" anchor="t"/>
          <a:lstStyle/>
          <a:p>
            <a:pPr indent="0" marL="0">
              <a:buNone/>
            </a:pPr>
            <a:r>
              <a:rPr lang="en-US" sz="1200" dirty="0">
                <a:solidFill>
                  <a:schemeClr val="accent5"/>
                </a:solidFill>
              </a:rPr>
              <a:t>a tangent beside each instruction</a:t>
            </a:r>
            <a:endParaRPr lang="en-US" sz="1200" dirty="0"/>
          </a:p>
        </p:txBody>
      </p:sp>
      <p:sp>
        <p:nvSpPr>
          <p:cNvPr id="33" name="Arrow 6"/>
          <p:cNvSpPr/>
          <p:nvPr/>
        </p:nvSpPr>
        <p:spPr>
          <a:xfrm>
            <a:off x="4465290" y="3236976"/>
            <a:ext cx="210312" cy="0"/>
          </a:xfrm>
          <a:prstGeom prst="line">
            <a:avLst/>
          </a:prstGeom>
          <a:noFill/>
          <a:ln w="19050">
            <a:solidFill>
              <a:schemeClr val="accent4"/>
            </a:solidFill>
            <a:prstDash val="solid"/>
            <a:tailEnd type="triangle"/>
          </a:ln>
        </p:spPr>
      </p:sp>
      <p:sp>
        <p:nvSpPr>
          <p:cNvPr id="34" name="Stage 7 card"/>
          <p:cNvSpPr/>
          <p:nvPr/>
        </p:nvSpPr>
        <p:spPr>
          <a:xfrm>
            <a:off x="4724339" y="2743200"/>
            <a:ext cx="1828800" cy="987552"/>
          </a:xfrm>
          <a:prstGeom prst="roundRect">
            <a:avLst>
              <a:gd name="adj" fmla="val 7407"/>
            </a:avLst>
          </a:prstGeom>
          <a:solidFill>
            <a:schemeClr val="tx2"/>
          </a:solidFill>
          <a:ln/>
        </p:spPr>
      </p:sp>
      <p:sp>
        <p:nvSpPr>
          <p:cNvPr id="35" name="Stage 7 number"/>
          <p:cNvSpPr txBox="1"/>
          <p:nvPr/>
        </p:nvSpPr>
        <p:spPr>
          <a:xfrm>
            <a:off x="4861499" y="287121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36" name="Stage 7 name"/>
          <p:cNvSpPr txBox="1"/>
          <p:nvPr/>
        </p:nvSpPr>
        <p:spPr>
          <a:xfrm>
            <a:off x="5272979" y="2871216"/>
            <a:ext cx="1207008" cy="329184"/>
          </a:xfrm>
          <a:prstGeom prst="rect">
            <a:avLst/>
          </a:prstGeom>
          <a:noFill/>
          <a:ln/>
        </p:spPr>
        <p:txBody>
          <a:bodyPr wrap="square" lIns="0" tIns="0" rIns="0" bIns="0" rtlCol="0" anchor="ctr"/>
          <a:lstStyle/>
          <a:p>
            <a:pPr indent="0" marL="0">
              <a:buNone/>
            </a:pPr>
            <a:r>
              <a:rPr lang="en-US" sz="1400" b="1" dirty="0">
                <a:solidFill>
                  <a:schemeClr val="bg1"/>
                </a:solidFill>
              </a:rPr>
              <a:t>Optimiser</a:t>
            </a:r>
            <a:endParaRPr lang="en-US" sz="1400" dirty="0"/>
          </a:p>
        </p:txBody>
      </p:sp>
      <p:sp>
        <p:nvSpPr>
          <p:cNvPr id="37" name="Stage 7 caption"/>
          <p:cNvSpPr txBox="1"/>
          <p:nvPr/>
        </p:nvSpPr>
        <p:spPr>
          <a:xfrm>
            <a:off x="4861499" y="3273552"/>
            <a:ext cx="1600200" cy="384048"/>
          </a:xfrm>
          <a:prstGeom prst="rect">
            <a:avLst/>
          </a:prstGeom>
          <a:noFill/>
          <a:ln/>
        </p:spPr>
        <p:txBody>
          <a:bodyPr wrap="square" lIns="0" tIns="0" rIns="0" bIns="0" rtlCol="0" anchor="t"/>
          <a:lstStyle/>
          <a:p>
            <a:pPr indent="0" marL="0">
              <a:buNone/>
            </a:pPr>
            <a:r>
              <a:rPr lang="en-US" sz="1200" dirty="0">
                <a:solidFill>
                  <a:schemeClr val="accent5"/>
                </a:solidFill>
              </a:rPr>
              <a:t>folding, CSE, dead-code removal</a:t>
            </a:r>
            <a:endParaRPr lang="en-US" sz="1200" dirty="0"/>
          </a:p>
        </p:txBody>
      </p:sp>
      <p:sp>
        <p:nvSpPr>
          <p:cNvPr id="38" name="Arrow 7"/>
          <p:cNvSpPr/>
          <p:nvPr/>
        </p:nvSpPr>
        <p:spPr>
          <a:xfrm>
            <a:off x="6598859" y="3236976"/>
            <a:ext cx="210312" cy="0"/>
          </a:xfrm>
          <a:prstGeom prst="line">
            <a:avLst/>
          </a:prstGeom>
          <a:noFill/>
          <a:ln w="19050">
            <a:solidFill>
              <a:schemeClr val="accent4"/>
            </a:solidFill>
            <a:prstDash val="solid"/>
            <a:tailEnd type="triangle"/>
          </a:ln>
        </p:spPr>
      </p:sp>
      <p:sp>
        <p:nvSpPr>
          <p:cNvPr id="39" name="Stage 8 card"/>
          <p:cNvSpPr/>
          <p:nvPr/>
        </p:nvSpPr>
        <p:spPr>
          <a:xfrm>
            <a:off x="6857909" y="2743200"/>
            <a:ext cx="1828800" cy="987552"/>
          </a:xfrm>
          <a:prstGeom prst="roundRect">
            <a:avLst>
              <a:gd name="adj" fmla="val 7407"/>
            </a:avLst>
          </a:prstGeom>
          <a:solidFill>
            <a:schemeClr val="tx2"/>
          </a:solidFill>
          <a:ln/>
        </p:spPr>
      </p:sp>
      <p:sp>
        <p:nvSpPr>
          <p:cNvPr id="40" name="Stage 8 number"/>
          <p:cNvSpPr txBox="1"/>
          <p:nvPr/>
        </p:nvSpPr>
        <p:spPr>
          <a:xfrm>
            <a:off x="6995069" y="287121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41" name="Stage 8 name"/>
          <p:cNvSpPr txBox="1"/>
          <p:nvPr/>
        </p:nvSpPr>
        <p:spPr>
          <a:xfrm>
            <a:off x="7406549" y="2871216"/>
            <a:ext cx="1207008" cy="329184"/>
          </a:xfrm>
          <a:prstGeom prst="rect">
            <a:avLst/>
          </a:prstGeom>
          <a:noFill/>
          <a:ln/>
        </p:spPr>
        <p:txBody>
          <a:bodyPr wrap="square" lIns="0" tIns="0" rIns="0" bIns="0" rtlCol="0" anchor="ctr"/>
          <a:lstStyle/>
          <a:p>
            <a:pPr indent="0" marL="0">
              <a:buNone/>
            </a:pPr>
            <a:r>
              <a:rPr lang="en-US" sz="1400" b="1" dirty="0">
                <a:solidFill>
                  <a:schemeClr val="bg1"/>
                </a:solidFill>
              </a:rPr>
              <a:t>C emitter</a:t>
            </a:r>
            <a:endParaRPr lang="en-US" sz="1400" dirty="0"/>
          </a:p>
        </p:txBody>
      </p:sp>
      <p:sp>
        <p:nvSpPr>
          <p:cNvPr id="42" name="Stage 8 caption"/>
          <p:cNvSpPr txBox="1"/>
          <p:nvPr/>
        </p:nvSpPr>
        <p:spPr>
          <a:xfrm>
            <a:off x="6995069" y="3273552"/>
            <a:ext cx="1600200" cy="384048"/>
          </a:xfrm>
          <a:prstGeom prst="rect">
            <a:avLst/>
          </a:prstGeom>
          <a:noFill/>
          <a:ln/>
        </p:spPr>
        <p:txBody>
          <a:bodyPr wrap="square" lIns="0" tIns="0" rIns="0" bIns="0" rtlCol="0" anchor="t"/>
          <a:lstStyle/>
          <a:p>
            <a:pPr indent="0" marL="0">
              <a:buNone/>
            </a:pPr>
            <a:r>
              <a:rPr lang="en-US" sz="1200" dirty="0">
                <a:solidFill>
                  <a:schemeClr val="accent5"/>
                </a:solidFill>
              </a:rPr>
              <a:t>function and gradient in C</a:t>
            </a:r>
            <a:endParaRPr lang="en-US" sz="1200" dirty="0"/>
          </a:p>
        </p:txBody>
      </p:sp>
      <p:sp>
        <p:nvSpPr>
          <p:cNvPr id="43" name="Fact 1 number"/>
          <p:cNvSpPr txBox="1"/>
          <p:nvPr/>
        </p:nvSpPr>
        <p:spPr>
          <a:xfrm>
            <a:off x="457200" y="4041648"/>
            <a:ext cx="64008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551</a:t>
            </a:r>
            <a:endParaRPr lang="en-US" sz="2200" dirty="0"/>
          </a:p>
        </p:txBody>
      </p:sp>
      <p:sp>
        <p:nvSpPr>
          <p:cNvPr id="44" name="Fact 1 label"/>
          <p:cNvSpPr txBox="1"/>
          <p:nvPr/>
        </p:nvSpPr>
        <p:spPr>
          <a:xfrm>
            <a:off x="1207008" y="4041648"/>
            <a:ext cx="1463040" cy="457200"/>
          </a:xfrm>
          <a:prstGeom prst="rect">
            <a:avLst/>
          </a:prstGeom>
          <a:noFill/>
          <a:ln/>
        </p:spPr>
        <p:txBody>
          <a:bodyPr wrap="square" lIns="0" tIns="0" rIns="0" bIns="0" rtlCol="0" anchor="ctr"/>
          <a:lstStyle/>
          <a:p>
            <a:pPr indent="0" marL="0">
              <a:buNone/>
            </a:pPr>
            <a:r>
              <a:rPr lang="en-US" sz="1200" dirty="0">
                <a:solidFill>
                  <a:schemeClr val="tx1"/>
                </a:solidFill>
              </a:rPr>
              <a:t>tests passing</a:t>
            </a:r>
            <a:endParaRPr lang="en-US" sz="1200" dirty="0"/>
          </a:p>
        </p:txBody>
      </p:sp>
      <p:sp>
        <p:nvSpPr>
          <p:cNvPr id="45" name="Fact 2 number"/>
          <p:cNvSpPr txBox="1"/>
          <p:nvPr/>
        </p:nvSpPr>
        <p:spPr>
          <a:xfrm>
            <a:off x="2834640" y="4041648"/>
            <a:ext cx="27432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a:t>
            </a:r>
            <a:endParaRPr lang="en-US" sz="2200" dirty="0"/>
          </a:p>
        </p:txBody>
      </p:sp>
      <p:sp>
        <p:nvSpPr>
          <p:cNvPr id="46" name="Fact 2 label"/>
          <p:cNvSpPr txBox="1"/>
          <p:nvPr/>
        </p:nvSpPr>
        <p:spPr>
          <a:xfrm>
            <a:off x="3218688" y="4041648"/>
            <a:ext cx="1920240" cy="457200"/>
          </a:xfrm>
          <a:prstGeom prst="rect">
            <a:avLst/>
          </a:prstGeom>
          <a:noFill/>
          <a:ln/>
        </p:spPr>
        <p:txBody>
          <a:bodyPr wrap="square" lIns="0" tIns="0" rIns="0" bIns="0" rtlCol="0" anchor="ctr"/>
          <a:lstStyle/>
          <a:p>
            <a:pPr indent="0" marL="0">
              <a:buNone/>
            </a:pPr>
            <a:r>
              <a:rPr lang="en-US" sz="1200" dirty="0">
                <a:solidFill>
                  <a:schemeClr val="tx1"/>
                </a:solidFill>
              </a:rPr>
              <a:t>third-party packages</a:t>
            </a:r>
            <a:endParaRPr lang="en-US" sz="1200" dirty="0"/>
          </a:p>
        </p:txBody>
      </p:sp>
      <p:sp>
        <p:nvSpPr>
          <p:cNvPr id="47" name="Fact 3 number"/>
          <p:cNvSpPr txBox="1"/>
          <p:nvPr/>
        </p:nvSpPr>
        <p:spPr>
          <a:xfrm>
            <a:off x="5394960" y="4041648"/>
            <a:ext cx="105156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12 → 4</a:t>
            </a:r>
            <a:endParaRPr lang="en-US" sz="2200" dirty="0"/>
          </a:p>
        </p:txBody>
      </p:sp>
      <p:sp>
        <p:nvSpPr>
          <p:cNvPr id="48" name="Fact 3 label"/>
          <p:cNvSpPr txBox="1"/>
          <p:nvPr/>
        </p:nvSpPr>
        <p:spPr>
          <a:xfrm>
            <a:off x="6556248" y="4041648"/>
            <a:ext cx="2194560" cy="457200"/>
          </a:xfrm>
          <a:prstGeom prst="rect">
            <a:avLst/>
          </a:prstGeom>
          <a:noFill/>
          <a:ln/>
        </p:spPr>
        <p:txBody>
          <a:bodyPr wrap="square" lIns="0" tIns="0" rIns="0" bIns="0" rtlCol="0" anchor="ctr"/>
          <a:lstStyle/>
          <a:p>
            <a:pPr indent="0" marL="0">
              <a:buNone/>
            </a:pPr>
            <a:r>
              <a:rPr lang="en-US" sz="1200" dirty="0">
                <a:solidFill>
                  <a:schemeClr val="tx1"/>
                </a:solidFill>
              </a:rPr>
              <a:t>instructions in the sample gradient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Checks in action</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A wrong program is rejected; an unknown unit is solved</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Implementation</a:t>
            </a:r>
            <a:endParaRPr lang="en-US" sz="1100" dirty="0"/>
          </a:p>
        </p:txBody>
      </p:sp>
      <p:sp>
        <p:nvSpPr>
          <p:cNvPr id="5" name="Rejected tag"/>
          <p:cNvSpPr txBox="1"/>
          <p:nvPr/>
        </p:nvSpPr>
        <p:spPr>
          <a:xfrm>
            <a:off x="457200" y="1536192"/>
            <a:ext cx="11430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REJECTED</a:t>
            </a:r>
            <a:endParaRPr lang="en-US" sz="1100" dirty="0"/>
          </a:p>
        </p:txBody>
      </p:sp>
      <p:sp>
        <p:nvSpPr>
          <p:cNvPr id="6" name="Rejected program background"/>
          <p:cNvSpPr/>
          <p:nvPr/>
        </p:nvSpPr>
        <p:spPr>
          <a:xfrm>
            <a:off x="457200" y="1938528"/>
            <a:ext cx="3977640" cy="1280160"/>
          </a:xfrm>
          <a:prstGeom prst="roundRect">
            <a:avLst>
              <a:gd name="adj" fmla="val 5714"/>
            </a:avLst>
          </a:prstGeom>
          <a:solidFill>
            <a:schemeClr val="tx1"/>
          </a:solidFill>
          <a:ln/>
        </p:spPr>
      </p:sp>
      <p:sp>
        <p:nvSpPr>
          <p:cNvPr id="7" name="Rejected program"/>
          <p:cNvSpPr txBox="1"/>
          <p:nvPr/>
        </p:nvSpPr>
        <p:spPr>
          <a:xfrm>
            <a:off x="658368" y="2103120"/>
            <a:ext cx="3575304" cy="950976"/>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fn altitude(reading: ft,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correction: m) -&gt; m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reading + correction;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8" name="Error card"/>
          <p:cNvSpPr/>
          <p:nvPr/>
        </p:nvSpPr>
        <p:spPr>
          <a:xfrm>
            <a:off x="457200" y="3364992"/>
            <a:ext cx="3977640" cy="1097280"/>
          </a:xfrm>
          <a:prstGeom prst="roundRect">
            <a:avLst>
              <a:gd name="adj" fmla="val 6667"/>
            </a:avLst>
          </a:prstGeom>
          <a:solidFill>
            <a:schemeClr val="bg2"/>
          </a:solidFill>
          <a:ln/>
        </p:spPr>
      </p:sp>
      <p:sp>
        <p:nvSpPr>
          <p:cNvPr id="9" name="Error message"/>
          <p:cNvSpPr txBox="1"/>
          <p:nvPr/>
        </p:nvSpPr>
        <p:spPr>
          <a:xfrm>
            <a:off x="640080" y="3493008"/>
            <a:ext cx="3611880" cy="86868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error: cannot add ft and m</a:t>
            </a:r>
            <a:endParaRPr lang="en-US" sz="14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in expression: reading + correction</a:t>
            </a:r>
            <a:endParaRPr lang="en-US" sz="1400" dirty="0"/>
          </a:p>
          <a:p>
            <a:pPr indent="0" marL="0">
              <a:spcAft>
                <a:spcPts val="400"/>
              </a:spcAft>
              <a:buNone/>
            </a:pPr>
            <a:r>
              <a:rPr lang="en-US" sz="1200" i="1" dirty="0">
                <a:solidFill>
                  <a:schemeClr val="accent4"/>
                </a:solidFill>
              </a:rPr>
              <a:t>Reported with file, line and column.</a:t>
            </a:r>
            <a:endParaRPr lang="en-US" sz="1400" dirty="0"/>
          </a:p>
        </p:txBody>
      </p:sp>
      <p:sp>
        <p:nvSpPr>
          <p:cNvPr id="10" name="Solved tag"/>
          <p:cNvSpPr txBox="1"/>
          <p:nvPr/>
        </p:nvSpPr>
        <p:spPr>
          <a:xfrm>
            <a:off x="4709160" y="1536192"/>
            <a:ext cx="10058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SOLVED</a:t>
            </a:r>
            <a:endParaRPr lang="en-US" sz="1100" dirty="0"/>
          </a:p>
        </p:txBody>
      </p:sp>
      <p:sp>
        <p:nvSpPr>
          <p:cNvPr id="11" name="Placeholder program background"/>
          <p:cNvSpPr/>
          <p:nvPr/>
        </p:nvSpPr>
        <p:spPr>
          <a:xfrm>
            <a:off x="4709160" y="1938528"/>
            <a:ext cx="3977640" cy="1280160"/>
          </a:xfrm>
          <a:prstGeom prst="roundRect">
            <a:avLst>
              <a:gd name="adj" fmla="val 5714"/>
            </a:avLst>
          </a:prstGeom>
          <a:solidFill>
            <a:schemeClr val="tx1"/>
          </a:solidFill>
          <a:ln/>
        </p:spPr>
      </p:sp>
      <p:sp>
        <p:nvSpPr>
          <p:cNvPr id="12" name="Placeholder program"/>
          <p:cNvSpPr txBox="1"/>
          <p:nvPr/>
        </p:nvSpPr>
        <p:spPr>
          <a:xfrm>
            <a:off x="4910328" y="2103120"/>
            <a:ext cx="3575304" cy="950976"/>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fn gd_step(x: m, eta: ?) -&gt; m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x - eta * f_grad_x(x);</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3" name="Solved card"/>
          <p:cNvSpPr/>
          <p:nvPr/>
        </p:nvSpPr>
        <p:spPr>
          <a:xfrm>
            <a:off x="4709160" y="3364992"/>
            <a:ext cx="3977640" cy="1097280"/>
          </a:xfrm>
          <a:prstGeom prst="roundRect">
            <a:avLst>
              <a:gd name="adj" fmla="val 6667"/>
            </a:avLst>
          </a:prstGeom>
          <a:solidFill>
            <a:schemeClr val="bg2"/>
          </a:solidFill>
          <a:ln/>
        </p:spPr>
      </p:sp>
      <p:sp>
        <p:nvSpPr>
          <p:cNvPr id="14" name="Solved unit"/>
          <p:cNvSpPr txBox="1"/>
          <p:nvPr/>
        </p:nvSpPr>
        <p:spPr>
          <a:xfrm>
            <a:off x="4892040" y="3493008"/>
            <a:ext cx="3611880" cy="86868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latin typeface="Courier New" pitchFamily="34" charset="0"/>
                <a:ea typeface="Courier New" pitchFamily="34" charset="-122"/>
                <a:cs typeface="Courier New" pitchFamily="34" charset="-120"/>
              </a:rPr>
              <a:t>eta : s^2/kg</a:t>
            </a:r>
            <a:endParaRPr lang="en-US" sz="1400" dirty="0"/>
          </a:p>
          <a:p>
            <a:pPr indent="0" marL="0">
              <a:spcAft>
                <a:spcPts val="400"/>
              </a:spcAft>
              <a:buNone/>
            </a:pPr>
            <a:r>
              <a:rPr lang="en-US" sz="1400" dirty="0">
                <a:solidFill>
                  <a:schemeClr val="tx1"/>
                </a:solidFill>
              </a:rPr>
              <a:t>The same unit as m²/J, which is [x]² / [f].</a:t>
            </a:r>
            <a:endParaRPr lang="en-US" sz="1400" dirty="0"/>
          </a:p>
          <a:p>
            <a:pPr indent="0" marL="0">
              <a:spcAft>
                <a:spcPts val="400"/>
              </a:spcAft>
              <a:buNone/>
            </a:pPr>
            <a:r>
              <a:rPr lang="en-US" sz="1200" i="1" dirty="0">
                <a:solidFill>
                  <a:schemeClr val="accent4"/>
                </a:solidFill>
              </a:rPr>
              <a:t>Matches the hand derivation for learning rates.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Results so far</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Measured on 14 benchmark programs and 33 gradients</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Implementation</a:t>
            </a:r>
            <a:endParaRPr lang="en-US" sz="1100" dirty="0"/>
          </a:p>
        </p:txBody>
      </p:sp>
      <p:sp>
        <p:nvSpPr>
          <p:cNvPr id="5" name="Result 1 card"/>
          <p:cNvSpPr/>
          <p:nvPr/>
        </p:nvSpPr>
        <p:spPr>
          <a:xfrm>
            <a:off x="457200" y="1554480"/>
            <a:ext cx="1892808" cy="1783080"/>
          </a:xfrm>
          <a:prstGeom prst="roundRect">
            <a:avLst>
              <a:gd name="adj" fmla="val 4103"/>
            </a:avLst>
          </a:prstGeom>
          <a:solidFill>
            <a:schemeClr val="bg2"/>
          </a:solidFill>
          <a:ln/>
        </p:spPr>
      </p:sp>
      <p:sp>
        <p:nvSpPr>
          <p:cNvPr id="6" name="Result 1 number"/>
          <p:cNvSpPr txBox="1"/>
          <p:nvPr/>
        </p:nvSpPr>
        <p:spPr>
          <a:xfrm>
            <a:off x="594360" y="1755648"/>
            <a:ext cx="1618488" cy="6400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2.6e-8</a:t>
            </a:r>
            <a:endParaRPr lang="en-US" sz="3400" dirty="0"/>
          </a:p>
        </p:txBody>
      </p:sp>
      <p:sp>
        <p:nvSpPr>
          <p:cNvPr id="7" name="Result 1 label"/>
          <p:cNvSpPr txBox="1"/>
          <p:nvPr/>
        </p:nvSpPr>
        <p:spPr>
          <a:xfrm>
            <a:off x="594360" y="2487168"/>
            <a:ext cx="1618488" cy="914400"/>
          </a:xfrm>
          <a:prstGeom prst="rect">
            <a:avLst/>
          </a:prstGeom>
          <a:noFill/>
          <a:ln/>
        </p:spPr>
        <p:txBody>
          <a:bodyPr wrap="square" lIns="0" tIns="0" rIns="0" bIns="0" rtlCol="0" anchor="t"/>
          <a:lstStyle/>
          <a:p>
            <a:pPr indent="0" marL="0">
              <a:buNone/>
            </a:pPr>
            <a:r>
              <a:rPr lang="en-US" sz="1400" dirty="0">
                <a:solidFill>
                  <a:schemeClr val="tx1"/>
                </a:solidFill>
              </a:rPr>
              <a:t>largest relative error against finite differences</a:t>
            </a:r>
            <a:endParaRPr lang="en-US" sz="1400" dirty="0"/>
          </a:p>
        </p:txBody>
      </p:sp>
      <p:sp>
        <p:nvSpPr>
          <p:cNvPr id="8" name="Result 2 card"/>
          <p:cNvSpPr/>
          <p:nvPr/>
        </p:nvSpPr>
        <p:spPr>
          <a:xfrm>
            <a:off x="2569464" y="1554480"/>
            <a:ext cx="1892808" cy="1783080"/>
          </a:xfrm>
          <a:prstGeom prst="roundRect">
            <a:avLst>
              <a:gd name="adj" fmla="val 4103"/>
            </a:avLst>
          </a:prstGeom>
          <a:solidFill>
            <a:schemeClr val="tx2"/>
          </a:solidFill>
          <a:ln/>
        </p:spPr>
      </p:sp>
      <p:sp>
        <p:nvSpPr>
          <p:cNvPr id="9" name="Result 2 number"/>
          <p:cNvSpPr txBox="1"/>
          <p:nvPr/>
        </p:nvSpPr>
        <p:spPr>
          <a:xfrm>
            <a:off x="2706624" y="1755648"/>
            <a:ext cx="1618488" cy="64008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98.4%</a:t>
            </a:r>
            <a:endParaRPr lang="en-US" sz="3400" dirty="0"/>
          </a:p>
        </p:txBody>
      </p:sp>
      <p:sp>
        <p:nvSpPr>
          <p:cNvPr id="10" name="Result 2 label"/>
          <p:cNvSpPr txBox="1"/>
          <p:nvPr/>
        </p:nvSpPr>
        <p:spPr>
          <a:xfrm>
            <a:off x="2706624" y="2487168"/>
            <a:ext cx="1618488" cy="914400"/>
          </a:xfrm>
          <a:prstGeom prst="rect">
            <a:avLst/>
          </a:prstGeom>
          <a:noFill/>
          <a:ln/>
        </p:spPr>
        <p:txBody>
          <a:bodyPr wrap="square" lIns="0" tIns="0" rIns="0" bIns="0" rtlCol="0" anchor="t"/>
          <a:lstStyle/>
          <a:p>
            <a:pPr indent="0" marL="0">
              <a:buNone/>
            </a:pPr>
            <a:r>
              <a:rPr lang="en-US" sz="1400" dirty="0">
                <a:solidFill>
                  <a:schemeClr val="bg1"/>
                </a:solidFill>
              </a:rPr>
              <a:t>of injected unit errors rejected (182 of 185)</a:t>
            </a:r>
            <a:endParaRPr lang="en-US" sz="1400" dirty="0"/>
          </a:p>
        </p:txBody>
      </p:sp>
      <p:sp>
        <p:nvSpPr>
          <p:cNvPr id="11" name="Result 3 card"/>
          <p:cNvSpPr/>
          <p:nvPr/>
        </p:nvSpPr>
        <p:spPr>
          <a:xfrm>
            <a:off x="4681728" y="1554480"/>
            <a:ext cx="1892808" cy="1783080"/>
          </a:xfrm>
          <a:prstGeom prst="roundRect">
            <a:avLst>
              <a:gd name="adj" fmla="val 4103"/>
            </a:avLst>
          </a:prstGeom>
          <a:solidFill>
            <a:schemeClr val="bg2"/>
          </a:solidFill>
          <a:ln/>
        </p:spPr>
      </p:sp>
      <p:sp>
        <p:nvSpPr>
          <p:cNvPr id="12" name="Result 3 number"/>
          <p:cNvSpPr txBox="1"/>
          <p:nvPr/>
        </p:nvSpPr>
        <p:spPr>
          <a:xfrm>
            <a:off x="4818888" y="1755648"/>
            <a:ext cx="1618488" cy="6400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15 / 15</a:t>
            </a:r>
            <a:endParaRPr lang="en-US" sz="3400" dirty="0"/>
          </a:p>
        </p:txBody>
      </p:sp>
      <p:sp>
        <p:nvSpPr>
          <p:cNvPr id="13" name="Result 3 label"/>
          <p:cNvSpPr txBox="1"/>
          <p:nvPr/>
        </p:nvSpPr>
        <p:spPr>
          <a:xfrm>
            <a:off x="4818888" y="2487168"/>
            <a:ext cx="1618488" cy="914400"/>
          </a:xfrm>
          <a:prstGeom prst="rect">
            <a:avLst/>
          </a:prstGeom>
          <a:noFill/>
          <a:ln/>
        </p:spPr>
        <p:txBody>
          <a:bodyPr wrap="square" lIns="0" tIns="0" rIns="0" bIns="0" rtlCol="0" anchor="t"/>
          <a:lstStyle/>
          <a:p>
            <a:pPr indent="0" marL="0">
              <a:buNone/>
            </a:pPr>
            <a:r>
              <a:rPr lang="en-US" sz="1400" dirty="0">
                <a:solidFill>
                  <a:schemeClr val="tx1"/>
                </a:solidFill>
              </a:rPr>
              <a:t>Newton, descent and Euler cases as derived by hand</a:t>
            </a:r>
            <a:endParaRPr lang="en-US" sz="1400" dirty="0"/>
          </a:p>
        </p:txBody>
      </p:sp>
      <p:sp>
        <p:nvSpPr>
          <p:cNvPr id="14" name="Result 4 card"/>
          <p:cNvSpPr/>
          <p:nvPr/>
        </p:nvSpPr>
        <p:spPr>
          <a:xfrm>
            <a:off x="6793992" y="1554480"/>
            <a:ext cx="1892808" cy="1783080"/>
          </a:xfrm>
          <a:prstGeom prst="roundRect">
            <a:avLst>
              <a:gd name="adj" fmla="val 4103"/>
            </a:avLst>
          </a:prstGeom>
          <a:solidFill>
            <a:schemeClr val="bg2"/>
          </a:solidFill>
          <a:ln/>
        </p:spPr>
      </p:sp>
      <p:sp>
        <p:nvSpPr>
          <p:cNvPr id="15" name="Result 4 number"/>
          <p:cNvSpPr txBox="1"/>
          <p:nvPr/>
        </p:nvSpPr>
        <p:spPr>
          <a:xfrm>
            <a:off x="6931152" y="1755648"/>
            <a:ext cx="1618488" cy="6400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48%</a:t>
            </a:r>
            <a:endParaRPr lang="en-US" sz="3400" dirty="0"/>
          </a:p>
        </p:txBody>
      </p:sp>
      <p:sp>
        <p:nvSpPr>
          <p:cNvPr id="16" name="Result 4 label"/>
          <p:cNvSpPr txBox="1"/>
          <p:nvPr/>
        </p:nvSpPr>
        <p:spPr>
          <a:xfrm>
            <a:off x="6931152" y="2487168"/>
            <a:ext cx="1618488" cy="914400"/>
          </a:xfrm>
          <a:prstGeom prst="rect">
            <a:avLst/>
          </a:prstGeom>
          <a:noFill/>
          <a:ln/>
        </p:spPr>
        <p:txBody>
          <a:bodyPr wrap="square" lIns="0" tIns="0" rIns="0" bIns="0" rtlCol="0" anchor="t"/>
          <a:lstStyle/>
          <a:p>
            <a:pPr indent="0" marL="0">
              <a:buNone/>
            </a:pPr>
            <a:r>
              <a:rPr lang="en-US" sz="1400" dirty="0">
                <a:solidFill>
                  <a:schemeClr val="tx1"/>
                </a:solidFill>
              </a:rPr>
              <a:t>of instructions removed by the optimiser</a:t>
            </a:r>
            <a:endParaRPr lang="en-US" sz="1400" dirty="0"/>
          </a:p>
        </p:txBody>
      </p:sp>
      <p:sp>
        <p:nvSpPr>
          <p:cNvPr id="17" name="Note 1 marker"/>
          <p:cNvSpPr/>
          <p:nvPr/>
        </p:nvSpPr>
        <p:spPr>
          <a:xfrm>
            <a:off x="457200" y="3721608"/>
            <a:ext cx="146304" cy="146304"/>
          </a:xfrm>
          <a:prstGeom prst="ellipse">
            <a:avLst/>
          </a:prstGeom>
          <a:solidFill>
            <a:schemeClr val="accent2"/>
          </a:solidFill>
          <a:ln/>
        </p:spPr>
      </p:sp>
      <p:sp>
        <p:nvSpPr>
          <p:cNvPr id="18" name="Note 1"/>
          <p:cNvSpPr txBox="1"/>
          <p:nvPr/>
        </p:nvSpPr>
        <p:spPr>
          <a:xfrm>
            <a:off x="749808" y="3639312"/>
            <a:ext cx="7936992" cy="310896"/>
          </a:xfrm>
          <a:prstGeom prst="rect">
            <a:avLst/>
          </a:prstGeom>
          <a:noFill/>
          <a:ln/>
        </p:spPr>
        <p:txBody>
          <a:bodyPr wrap="square" lIns="0" tIns="0" rIns="0" bIns="0" rtlCol="0" anchor="ctr"/>
          <a:lstStyle/>
          <a:p>
            <a:pPr indent="0" marL="0">
              <a:buNone/>
            </a:pPr>
            <a:r>
              <a:rPr lang="en-US" sz="1400" dirty="0">
                <a:solidFill>
                  <a:schemeClr val="tx1"/>
                </a:solidFill>
              </a:rPr>
              <a:t>All 3 missed errors were absorbed by a ? parameter that solved to a different unit.</a:t>
            </a:r>
            <a:endParaRPr lang="en-US" sz="1400" dirty="0"/>
          </a:p>
        </p:txBody>
      </p:sp>
      <p:sp>
        <p:nvSpPr>
          <p:cNvPr id="19" name="Note 2 marker"/>
          <p:cNvSpPr/>
          <p:nvPr/>
        </p:nvSpPr>
        <p:spPr>
          <a:xfrm>
            <a:off x="457200" y="4142232"/>
            <a:ext cx="146304" cy="146304"/>
          </a:xfrm>
          <a:prstGeom prst="ellipse">
            <a:avLst/>
          </a:prstGeom>
          <a:solidFill>
            <a:schemeClr val="accent2"/>
          </a:solidFill>
          <a:ln/>
        </p:spPr>
      </p:sp>
      <p:sp>
        <p:nvSpPr>
          <p:cNvPr id="20" name="Note 2"/>
          <p:cNvSpPr txBox="1"/>
          <p:nvPr/>
        </p:nvSpPr>
        <p:spPr>
          <a:xfrm>
            <a:off x="749808" y="4059936"/>
            <a:ext cx="7936992" cy="310896"/>
          </a:xfrm>
          <a:prstGeom prst="rect">
            <a:avLst/>
          </a:prstGeom>
          <a:noFill/>
          <a:ln/>
        </p:spPr>
        <p:txBody>
          <a:bodyPr wrap="square" lIns="0" tIns="0" rIns="0" bIns="0" rtlCol="0" anchor="ctr"/>
          <a:lstStyle/>
          <a:p>
            <a:pPr indent="0" marL="0">
              <a:buNone/>
            </a:pPr>
            <a:r>
              <a:rPr lang="en-US" sz="1400" dirty="0">
                <a:solidFill>
                  <a:schemeClr val="tx1"/>
                </a:solidFill>
              </a:rPr>
              <a:t>A gradient costs about 1.22× the function with GCC -O2; timings vary from run to run.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5760720" cy="640080"/>
          </a:xfrm>
          <a:prstGeom prst="rect">
            <a:avLst/>
          </a:prstGeom>
          <a:noFill/>
          <a:ln/>
        </p:spPr>
        <p:txBody>
          <a:bodyPr wrap="square" lIns="0" tIns="0" rIns="0" bIns="0" rtlCol="0" anchor="ctr"/>
          <a:lstStyle/>
          <a:p>
            <a:pPr algn="l" indent="0" marL="0">
              <a:buNone/>
            </a:pPr>
            <a:r>
              <a:rPr lang="en-US" sz="3600" b="1" dirty="0">
                <a:solidFill>
                  <a:schemeClr val="tx2"/>
                </a:solidFill>
              </a:rPr>
              <a:t>Limits and next steps</a:t>
            </a:r>
            <a:endParaRPr lang="en-US" sz="36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ctr"/>
          <a:lstStyle/>
          <a:p>
            <a:pPr algn="l" indent="0" marL="0">
              <a:buNone/>
            </a:pPr>
            <a:r>
              <a:rPr lang="en-US" sz="1600" i="1" dirty="0">
                <a:solidFill>
                  <a:schemeClr val="accent4"/>
                </a:solidFill>
              </a:rPr>
              <a:t>What the first version does not do, and what comes next</a:t>
            </a:r>
            <a:endParaRPr lang="en-US" sz="1600" dirty="0"/>
          </a:p>
        </p:txBody>
      </p:sp>
      <p:sp>
        <p:nvSpPr>
          <p:cNvPr id="4" name="Rubric tag"/>
          <p:cNvSpPr txBox="1"/>
          <p:nvPr/>
        </p:nvSpPr>
        <p:spPr>
          <a:xfrm>
            <a:off x="6355080" y="457200"/>
            <a:ext cx="2331720" cy="310896"/>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Presentation &amp; Q&amp;A</a:t>
            </a:r>
            <a:endParaRPr lang="en-US" sz="1100" dirty="0"/>
          </a:p>
        </p:txBody>
      </p:sp>
      <p:sp>
        <p:nvSpPr>
          <p:cNvPr id="5" name="LIMITS TODAY card"/>
          <p:cNvSpPr/>
          <p:nvPr/>
        </p:nvSpPr>
        <p:spPr>
          <a:xfrm>
            <a:off x="457200" y="1554480"/>
            <a:ext cx="3977640" cy="2697480"/>
          </a:xfrm>
          <a:prstGeom prst="roundRect">
            <a:avLst>
              <a:gd name="adj" fmla="val 2712"/>
            </a:avLst>
          </a:prstGeom>
          <a:solidFill>
            <a:schemeClr val="bg2"/>
          </a:solidFill>
          <a:ln/>
        </p:spPr>
      </p:sp>
      <p:sp>
        <p:nvSpPr>
          <p:cNvPr id="6" name="LIMITS TODAY tag"/>
          <p:cNvSpPr txBox="1"/>
          <p:nvPr/>
        </p:nvSpPr>
        <p:spPr>
          <a:xfrm>
            <a:off x="685800" y="1755648"/>
            <a:ext cx="14630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LIMITS TODAY</a:t>
            </a:r>
            <a:endParaRPr lang="en-US" sz="1100" dirty="0"/>
          </a:p>
        </p:txBody>
      </p:sp>
      <p:sp>
        <p:nvSpPr>
          <p:cNvPr id="7" name="LIMITS TODAY list"/>
          <p:cNvSpPr txBox="1"/>
          <p:nvPr/>
        </p:nvSpPr>
        <p:spPr>
          <a:xfrm>
            <a:off x="685800" y="2212848"/>
            <a:ext cx="3520440" cy="21031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Scalars only: no arrays, while loops or recursion</a:t>
            </a:r>
            <a:endParaRPr lang="en-US" sz="1400" dirty="0"/>
          </a:p>
          <a:p>
            <a:pPr marL="342900" indent="-342900">
              <a:spcAft>
                <a:spcPts val="700"/>
              </a:spcAft>
              <a:buSzPct val="100000"/>
              <a:buChar char="•"/>
            </a:pPr>
            <a:r>
              <a:rPr lang="en-US" sz="1400" dirty="0">
                <a:solidFill>
                  <a:schemeClr val="tx1"/>
                </a:solidFill>
              </a:rPr>
              <a:t>Forward mode, first derivatives only</a:t>
            </a:r>
            <a:endParaRPr lang="en-US" sz="1400" dirty="0"/>
          </a:p>
          <a:p>
            <a:pPr marL="342900" indent="-342900">
              <a:spcAft>
                <a:spcPts val="700"/>
              </a:spcAft>
              <a:buSzPct val="100000"/>
              <a:buChar char="•"/>
            </a:pPr>
            <a:r>
              <a:rPr lang="en-US" sz="1400" dirty="0">
                <a:solidFill>
                  <a:schemeClr val="tx1"/>
                </a:solidFill>
              </a:rPr>
              <a:t>No unit polymorphism</a:t>
            </a:r>
            <a:endParaRPr lang="en-US" sz="1400" dirty="0"/>
          </a:p>
          <a:p>
            <a:pPr marL="342900" indent="-342900">
              <a:spcAft>
                <a:spcPts val="700"/>
              </a:spcAft>
              <a:buSzPct val="100000"/>
              <a:buChar char="•"/>
            </a:pPr>
            <a:r>
              <a:rPr lang="en-US" sz="1400" dirty="0">
                <a:solidFill>
                  <a:schemeClr val="tx1"/>
                </a:solidFill>
              </a:rPr>
              <a:t>A ? parameter can absorb a unit error</a:t>
            </a:r>
            <a:endParaRPr lang="en-US" sz="1400" dirty="0"/>
          </a:p>
          <a:p>
            <a:pPr marL="342900" indent="-342900">
              <a:spcAft>
                <a:spcPts val="700"/>
              </a:spcAft>
              <a:buSzPct val="100000"/>
              <a:buChar char="•"/>
            </a:pPr>
            <a:r>
              <a:rPr lang="en-US" sz="1400" dirty="0">
                <a:solidFill>
                  <a:schemeClr val="tx1"/>
                </a:solidFill>
              </a:rPr>
              <a:t>Angles are treated as unitless</a:t>
            </a:r>
            <a:endParaRPr lang="en-US" sz="1400" dirty="0"/>
          </a:p>
        </p:txBody>
      </p:sp>
      <p:sp>
        <p:nvSpPr>
          <p:cNvPr id="8" name="NEXT card"/>
          <p:cNvSpPr/>
          <p:nvPr/>
        </p:nvSpPr>
        <p:spPr>
          <a:xfrm>
            <a:off x="4709160" y="1554480"/>
            <a:ext cx="3977640" cy="2697480"/>
          </a:xfrm>
          <a:prstGeom prst="roundRect">
            <a:avLst>
              <a:gd name="adj" fmla="val 2712"/>
            </a:avLst>
          </a:prstGeom>
          <a:solidFill>
            <a:schemeClr val="bg2"/>
          </a:solidFill>
          <a:ln/>
        </p:spPr>
      </p:sp>
      <p:sp>
        <p:nvSpPr>
          <p:cNvPr id="9" name="NEXT tag"/>
          <p:cNvSpPr txBox="1"/>
          <p:nvPr/>
        </p:nvSpPr>
        <p:spPr>
          <a:xfrm>
            <a:off x="4937760" y="1755648"/>
            <a:ext cx="7772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NEXT</a:t>
            </a:r>
            <a:endParaRPr lang="en-US" sz="1100" dirty="0"/>
          </a:p>
        </p:txBody>
      </p:sp>
      <p:sp>
        <p:nvSpPr>
          <p:cNvPr id="10" name="NEXT list"/>
          <p:cNvSpPr txBox="1"/>
          <p:nvPr/>
        </p:nvSpPr>
        <p:spPr>
          <a:xfrm>
            <a:off x="4937760" y="2212848"/>
            <a:ext cx="3520440" cy="21031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Second derivatives by inlining gradient functions</a:t>
            </a:r>
            <a:endParaRPr lang="en-US" sz="1400" dirty="0"/>
          </a:p>
          <a:p>
            <a:pPr marL="342900" indent="-342900">
              <a:spcAft>
                <a:spcPts val="700"/>
              </a:spcAft>
              <a:buSzPct val="100000"/>
              <a:buChar char="•"/>
            </a:pPr>
            <a:r>
              <a:rPr lang="en-US" sz="1400" dirty="0">
                <a:solidFill>
                  <a:schemeClr val="tx1"/>
                </a:solidFill>
              </a:rPr>
              <a:t>Unit polymorphism for reusable functions</a:t>
            </a:r>
            <a:endParaRPr lang="en-US" sz="1400" dirty="0"/>
          </a:p>
          <a:p>
            <a:pPr marL="342900" indent="-342900">
              <a:spcAft>
                <a:spcPts val="700"/>
              </a:spcAft>
              <a:buSzPct val="100000"/>
              <a:buChar char="•"/>
            </a:pPr>
            <a:r>
              <a:rPr lang="en-US" sz="1400" dirty="0">
                <a:solidFill>
                  <a:schemeClr val="tx1"/>
                </a:solidFill>
              </a:rPr>
              <a:t>Re-check every cited source and the novelty claim</a:t>
            </a:r>
            <a:endParaRPr lang="en-US" sz="1400" dirty="0"/>
          </a:p>
          <a:p>
            <a:pPr marL="342900" indent="-342900">
              <a:spcAft>
                <a:spcPts val="700"/>
              </a:spcAft>
              <a:buSzPct val="100000"/>
              <a:buChar char="•"/>
            </a:pPr>
            <a:r>
              <a:rPr lang="en-US" sz="1400" dirty="0">
                <a:solidFill>
                  <a:schemeClr val="tx1"/>
                </a:solidFill>
              </a:rPr>
              <a:t>Write the measured results into the paper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731520"/>
          </a:xfrm>
          <a:prstGeom prst="rect">
            <a:avLst/>
          </a:prstGeom>
          <a:noFill/>
          <a:ln/>
        </p:spPr>
        <p:txBody>
          <a:bodyPr wrap="square" lIns="0" tIns="0" rIns="0" bIns="0" rtlCol="0" anchor="ctr"/>
          <a:lstStyle/>
          <a:p>
            <a:pPr algn="l" indent="0" marL="0">
              <a:buNone/>
            </a:pPr>
            <a:r>
              <a:rPr lang="en-US" sz="4000" b="1" dirty="0">
                <a:solidFill>
                  <a:schemeClr val="bg1"/>
                </a:solidFill>
              </a:rPr>
              <a:t>Demo and questions</a:t>
            </a:r>
            <a:endParaRPr lang="en-US" sz="4000" dirty="0"/>
          </a:p>
        </p:txBody>
      </p:sp>
      <p:sp>
        <p:nvSpPr>
          <p:cNvPr id="3" name="Text 0"/>
          <p:cNvSpPr/>
          <p:nvPr>
            <p:ph idx="101" type="body" hasCustomPrompt="1"/>
          </p:nvPr>
        </p:nvSpPr>
        <p:spPr>
          <a:xfrm>
            <a:off x="457200" y="1143000"/>
            <a:ext cx="8229600" cy="411480"/>
          </a:xfrm>
          <a:prstGeom prst="rect">
            <a:avLst/>
          </a:prstGeom>
          <a:noFill/>
          <a:ln/>
        </p:spPr>
        <p:txBody>
          <a:bodyPr wrap="square" lIns="0" tIns="0" rIns="0" bIns="0" rtlCol="0" anchor="ctr"/>
          <a:lstStyle/>
          <a:p>
            <a:pPr algn="l" indent="0" marL="0">
              <a:buNone/>
            </a:pPr>
            <a:r>
              <a:rPr lang="en-US" sz="1600" i="1" dirty="0">
                <a:solidFill>
                  <a:schemeClr val="accent5"/>
                </a:solidFill>
              </a:rPr>
              <a:t>Three commands show the checker, an error and the optimised gradient</a:t>
            </a:r>
            <a:endParaRPr lang="en-US" sz="1600" dirty="0"/>
          </a:p>
        </p:txBody>
      </p:sp>
      <p:sp>
        <p:nvSpPr>
          <p:cNvPr id="4" name="Demo commands background"/>
          <p:cNvSpPr/>
          <p:nvPr/>
        </p:nvSpPr>
        <p:spPr>
          <a:xfrm>
            <a:off x="457200" y="1783080"/>
            <a:ext cx="8229600" cy="2240280"/>
          </a:xfrm>
          <a:prstGeom prst="roundRect">
            <a:avLst>
              <a:gd name="adj" fmla="val 3265"/>
            </a:avLst>
          </a:prstGeom>
          <a:solidFill>
            <a:schemeClr val="tx1"/>
          </a:solidFill>
          <a:ln/>
        </p:spPr>
      </p:sp>
      <p:sp>
        <p:nvSpPr>
          <p:cNvPr id="5" name="Demo commands"/>
          <p:cNvSpPr txBox="1"/>
          <p:nvPr/>
        </p:nvSpPr>
        <p:spPr>
          <a:xfrm>
            <a:off x="685800" y="1965960"/>
            <a:ext cx="7772400" cy="18745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 the unit of the derivative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dimgrad check benchmarks/kinetic_energy.dg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5"/>
                </a:solidFill>
                <a:latin typeface="Courier New" pitchFamily="34" charset="0"/>
                <a:ea typeface="Courier New" pitchFamily="34" charset="-122"/>
                <a:cs typeface="Courier New" pitchFamily="34" charset="-120"/>
              </a:rPr>
              <a:t># a unit error, with file, line and column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dimgrad check tests/golden/errors/feet_metres.dg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5"/>
                </a:solidFill>
                <a:latin typeface="Courier New" pitchFamily="34" charset="0"/>
                <a:ea typeface="Courier New" pitchFamily="34" charset="-122"/>
                <a:cs typeface="Courier New" pitchFamily="34" charset="-120"/>
              </a:rPr>
              <a:t># three-address code, before and after optimisation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dimgrad compile benchmarks/kinetic_energy.dg --emit-tac --stats</a:t>
            </a:r>
            <a:endParaRPr lang="en-US" sz="1200" dirty="0"/>
          </a:p>
        </p:txBody>
      </p:sp>
      <p:sp>
        <p:nvSpPr>
          <p:cNvPr id="6" name="Closing chip J"/>
          <p:cNvSpPr txBox="1"/>
          <p:nvPr/>
        </p:nvSpPr>
        <p:spPr>
          <a:xfrm>
            <a:off x="457200" y="4315968"/>
            <a:ext cx="640080" cy="384048"/>
          </a:xfrm>
          <a:prstGeom prst="roundRect">
            <a:avLst>
              <a:gd name="adj" fmla="val 50000"/>
            </a:avLst>
          </a:prstGeom>
          <a:solidFill>
            <a:schemeClr val="bg1"/>
          </a:solidFill>
          <a:ln/>
        </p:spPr>
        <p:txBody>
          <a:bodyPr wrap="square" lIns="0" tIns="0" rIns="0" bIns="0" rtlCol="0" anchor="ctr"/>
          <a:lstStyle/>
          <a:p>
            <a:pPr algn="ctr" indent="0" marL="0">
              <a:buNone/>
            </a:pPr>
            <a:r>
              <a:rPr lang="en-US" sz="1400" b="1" dirty="0">
                <a:solidFill>
                  <a:schemeClr val="tx2"/>
                </a:solidFill>
              </a:rPr>
              <a:t>J</a:t>
            </a:r>
            <a:endParaRPr lang="en-US" sz="1400" dirty="0"/>
          </a:p>
        </p:txBody>
      </p:sp>
      <p:sp>
        <p:nvSpPr>
          <p:cNvPr id="7" name="Closing divide"/>
          <p:cNvSpPr txBox="1"/>
          <p:nvPr/>
        </p:nvSpPr>
        <p:spPr>
          <a:xfrm>
            <a:off x="1097280" y="4315968"/>
            <a:ext cx="329184" cy="384048"/>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8" name="Closing chip m/s"/>
          <p:cNvSpPr txBox="1"/>
          <p:nvPr/>
        </p:nvSpPr>
        <p:spPr>
          <a:xfrm>
            <a:off x="1426464" y="4315968"/>
            <a:ext cx="822960" cy="384048"/>
          </a:xfrm>
          <a:prstGeom prst="roundRect">
            <a:avLst>
              <a:gd name="adj" fmla="val 50000"/>
            </a:avLst>
          </a:prstGeom>
          <a:solidFill>
            <a:schemeClr val="bg1"/>
          </a:solidFill>
          <a:ln/>
        </p:spPr>
        <p:txBody>
          <a:bodyPr wrap="square" lIns="0" tIns="0" rIns="0" bIns="0" rtlCol="0" anchor="ctr"/>
          <a:lstStyle/>
          <a:p>
            <a:pPr algn="ctr" indent="0" marL="0">
              <a:buNone/>
            </a:pPr>
            <a:r>
              <a:rPr lang="en-US" sz="1400" b="1" dirty="0">
                <a:solidFill>
                  <a:schemeClr val="tx2"/>
                </a:solidFill>
              </a:rPr>
              <a:t>m/s</a:t>
            </a:r>
            <a:endParaRPr lang="en-US" sz="1400" dirty="0"/>
          </a:p>
        </p:txBody>
      </p:sp>
      <p:sp>
        <p:nvSpPr>
          <p:cNvPr id="9" name="Closing equals"/>
          <p:cNvSpPr txBox="1"/>
          <p:nvPr/>
        </p:nvSpPr>
        <p:spPr>
          <a:xfrm>
            <a:off x="2249424" y="4315968"/>
            <a:ext cx="329184" cy="384048"/>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10" name="Closing chip momentum"/>
          <p:cNvSpPr txBox="1"/>
          <p:nvPr/>
        </p:nvSpPr>
        <p:spPr>
          <a:xfrm>
            <a:off x="2578608" y="4315968"/>
            <a:ext cx="105156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tx1"/>
                </a:solidFill>
              </a:rPr>
              <a:t>kg·m/s</a:t>
            </a:r>
            <a:endParaRPr lang="en-US" sz="1400" dirty="0"/>
          </a:p>
        </p:txBody>
      </p:sp>
      <p:sp>
        <p:nvSpPr>
          <p:cNvPr id="11" name="Closing authors"/>
          <p:cNvSpPr txBox="1"/>
          <p:nvPr/>
        </p:nvSpPr>
        <p:spPr>
          <a:xfrm>
            <a:off x="4572000" y="4370832"/>
            <a:ext cx="4114800" cy="274320"/>
          </a:xfrm>
          <a:prstGeom prst="rect">
            <a:avLst/>
          </a:prstGeom>
          <a:noFill/>
          <a:ln/>
        </p:spPr>
        <p:txBody>
          <a:bodyPr wrap="square" lIns="0" tIns="0" rIns="0" bIns="0" rtlCol="0" anchor="t"/>
          <a:lstStyle/>
          <a:p>
            <a:pPr algn="r" indent="0" marL="0">
              <a:buNone/>
            </a:pPr>
            <a:r>
              <a:rPr lang="en-US" sz="1200" dirty="0">
                <a:solidFill>
                  <a:schemeClr val="accent5"/>
                </a:solidFill>
              </a:rPr>
              <a:t>Samartha Kashyap  ·  Kaavya Dehkane</a:t>
            </a:r>
            <a:endParaRPr lang="en-US" sz="1200" dirty="0"/>
          </a:p>
        </p:txBody>
      </p:sp>
    </p:spTree>
  </p:cSld>
  <p:clrMapOvr>
    <a:masterClrMapping/>
  </p:clrMapOvr>
</p:sld>
</file>

<file path=ppt/theme/theme1.xml><?xml version="1.0" encoding="utf-8"?>
<a:theme xmlns:a="http://schemas.openxmlformats.org/drawingml/2006/main" name="DimGrad">
  <a:themeElements>
    <a:clrScheme name="DimGrad">
      <a:dk1>
        <a:srgbClr val="12211D"/>
      </a:dk1>
      <a:lt1>
        <a:srgbClr val="FFFFFF"/>
      </a:lt1>
      <a:dk2>
        <a:srgbClr val="14403A"/>
      </a:dk2>
      <a:lt2>
        <a:srgbClr val="EDF4F1"/>
      </a:lt2>
      <a:accent1>
        <a:srgbClr val="1F6F63"/>
      </a:accent1>
      <a:accent2>
        <a:srgbClr val="F2A541"/>
      </a:accent2>
      <a:accent3>
        <a:srgbClr val="C8553D"/>
      </a:accent3>
      <a:accent4>
        <a:srgbClr val="5E7F78"/>
      </a:accent4>
      <a:accent5>
        <a:srgbClr val="BFE0D6"/>
      </a:accent5>
      <a:accent6>
        <a:srgbClr val="2B2D42"/>
      </a:accent6>
      <a:hlink>
        <a:srgbClr val="1F6F63"/>
      </a:hlink>
      <a:folHlink>
        <a:srgbClr val="5E7F78"/>
      </a:folHlink>
    </a:clrScheme>
    <a:fontScheme name="DimGra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DimGrad - Project Review 1</dc:title>
  <dc:subject>PptxGenJS Presentation</dc:subject>
  <dc:creator>Samartha Kashyap, Kaavya Dehkane</dc:creator>
  <cp:lastModifiedBy>Samartha Kashyap, Kaavya Dehkane</cp:lastModifiedBy>
  <cp:revision>1</cp:revision>
  <dcterms:created xsi:type="dcterms:W3CDTF">2026-10-13T17:47:29Z</dcterms:created>
  <dcterms:modified xsi:type="dcterms:W3CDTF">2026-10-13T17:47:29Z</dcterms:modified>
</cp:coreProperties>
</file>